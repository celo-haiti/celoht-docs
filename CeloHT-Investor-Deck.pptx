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Illustrative Revenue Mix by Source</a:t>
            </a:r>
          </a:p>
        </c:rich>
      </c:tx>
      <c:layout/>
      <c:overlay val="0"/>
    </c:title>
    <c:autoTitleDeleted val="0"/>
    <c:plotArea>
      <c:layout/>
      <c:barChart>
        <c:barDir val="col"/>
        <c:grouping val="stacked"/>
        <c:varyColors val="0"/>
        <c:ser>
          <c:idx val="0"/>
          <c:order val="0"/>
          <c:tx>
            <c:strRef>
              <c:f>Sheet1!$B$1</c:f>
              <c:strCache>
                <c:ptCount val="1"/>
                <c:pt idx="0">
                  <c:v>Grant &amp; Partnership Revenue (US$k)</c:v>
                </c:pt>
              </c:strCache>
            </c:strRef>
          </c:tx>
          <c:spPr>
            <a:solidFill>
              <a:srgbClr val="1B2A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2026</c:v>
                  </c:pt>
                  <c:pt idx="1">
                    <c:v>2027</c:v>
                  </c:pt>
                  <c:pt idx="2">
                    <c:v>2028</c:v>
                  </c:pt>
                  <c:pt idx="3">
                    <c:v>2029</c:v>
                  </c:pt>
                </c:lvl>
              </c:multiLvlStrCache>
            </c:multiLvlStrRef>
          </c:cat>
          <c:val>
            <c:numRef>
              <c:f>Sheet1!$B$2:$B$5</c:f>
              <c:numCache>
                <c:formatCode>General</c:formatCode>
                <c:ptCount val="4"/>
                <c:pt idx="0">
                  <c:v>45</c:v>
                </c:pt>
                <c:pt idx="1">
                  <c:v>90</c:v>
                </c:pt>
                <c:pt idx="2">
                  <c:v>140</c:v>
                </c:pt>
                <c:pt idx="3">
                  <c:v>170</c:v>
                </c:pt>
              </c:numCache>
            </c:numRef>
          </c:val>
        </c:ser>
        <c:ser>
          <c:idx val="1"/>
          <c:order val="1"/>
          <c:tx>
            <c:strRef>
              <c:f>Sheet1!$C$1</c:f>
              <c:strCache>
                <c:ptCount val="1"/>
                <c:pt idx="0">
                  <c:v>Agent Network Fee Revenue (US$k)</c:v>
                </c:pt>
              </c:strCache>
            </c:strRef>
          </c:tx>
          <c:spPr>
            <a:solidFill>
              <a:srgbClr val="F5A62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2026</c:v>
                  </c:pt>
                  <c:pt idx="1">
                    <c:v>2027</c:v>
                  </c:pt>
                  <c:pt idx="2">
                    <c:v>2028</c:v>
                  </c:pt>
                  <c:pt idx="3">
                    <c:v>2029</c:v>
                  </c:pt>
                </c:lvl>
              </c:multiLvlStrCache>
            </c:multiLvlStrRef>
          </c:cat>
          <c:val>
            <c:numRef>
              <c:f>Sheet1!$C$2:$C$5</c:f>
              <c:numCache>
                <c:formatCode>General</c:formatCode>
                <c:ptCount val="4"/>
                <c:pt idx="0">
                  <c:v>0</c:v>
                </c:pt>
                <c:pt idx="1">
                  <c:v>8</c:v>
                </c:pt>
                <c:pt idx="2">
                  <c:v>35</c:v>
                </c:pt>
                <c:pt idx="3">
                  <c:v>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4D4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1B2A4A"/>
              </a:solidFill>
              <a:effectLst/>
            </c:spPr>
          </c:dPt>
          <c:dPt>
            <c:idx val="1"/>
            <c:bubble3D val="0"/>
            <c:spPr>
              <a:solidFill>
                <a:srgbClr val="F5A623"/>
              </a:solidFill>
              <a:effectLst/>
            </c:spPr>
          </c:dPt>
          <c:dPt>
            <c:idx val="2"/>
            <c:bubble3D val="0"/>
            <c:spPr>
              <a:solidFill>
                <a:srgbClr val="1E8E5A"/>
              </a:solidFill>
              <a:effectLst/>
            </c:spPr>
          </c:dPt>
          <c:dPt>
            <c:idx val="3"/>
            <c:bubble3D val="0"/>
            <c:spPr>
              <a:solidFill>
                <a:srgbClr val="2B6CB0"/>
              </a:solidFill>
              <a:effectLst/>
            </c:spPr>
          </c:dPt>
          <c:dPt>
            <c:idx val="4"/>
            <c:bubble3D val="0"/>
            <c:spPr>
              <a:solidFill>
                <a:srgbClr val="4A5568"/>
              </a:solidFill>
              <a:effectLst/>
            </c:spPr>
          </c:dPt>
          <c:dLbls>
            <c:dLbl>
              <c:idx val="0"/>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4"/>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Agent Network (training, stipends)</c:v>
                </c:pt>
                <c:pt idx="1">
                  <c:v>Education content development</c:v>
                </c:pt>
                <c:pt idx="2">
                  <c:v>Reforestation pilot</c:v>
                </c:pt>
                <c:pt idx="3">
                  <c:v>Technology (dApp, infrastructure)</c:v>
                </c:pt>
                <c:pt idx="4">
                  <c:v>Governance &amp; operations</c:v>
                </c:pt>
              </c:strCache>
            </c:strRef>
          </c:cat>
          <c:val>
            <c:numRef>
              <c:f>Sheet1!$B$2:$B$6</c:f>
              <c:numCache>
                <c:ptCount val="5"/>
                <c:pt idx="0">
                  <c:v>32</c:v>
                </c:pt>
                <c:pt idx="1">
                  <c:v>22</c:v>
                </c:pt>
                <c:pt idx="2">
                  <c:v>18</c:v>
                </c:pt>
                <c:pt idx="3">
                  <c:v>18</c:v>
                </c:pt>
                <c:pt idx="4">
                  <c:v>10</c:v>
                </c:pt>
              </c:numCache>
            </c:numRef>
          </c:val>
        </c:ser>
        <c:firstSliceAng val="0"/>
      </c:pieChart>
      <c:spPr>
        <a:noFill/>
        <a:ln>
          <a:noFill/>
        </a:ln>
        <a:effectLst/>
      </c:spPr>
    </c:plotArea>
    <c:legend>
      <c:legendPos val="r"/>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warmth, not hype. Introduce yourself and CeloHT in one sentence: a Haitian-led, open-source initiative building financial inclusion through education, a human agent network, and reforestation. Immediately signal what this is NOT: not a token, not a speculative crypto project. That single sentence sets the tone the whole deck depends on, especially for foundation and grant-committee audiences who have seen too many Web3 pitches that overpromised.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entire pitch in miniature. Emphasize the closing line: CeloHT is funded through grants and partnerships, not speculation — this is the sentence that differentiates CeloHT from every other 'Web3 for good' pitch these institutions have heard. If asked 'so how is this different from every other blockchain-for-development pitch,' this is the slide to return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bolded vision line slowly — it's written to be quotable. Then land on the closing distinction: success is independence, not dependence. For institutional funders (UNDP, USAID, IDB), this framing directly answers their standard sustainability-exit-strategy question before they ask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ordering principles as a deliberate sequence, not a list. The mission is built so each pillar is the prerequisite for the next: understanding enables trust, trust enables adoption, adoption without environmental cost is the whole point of the third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directional realities, not precise statistics — say so if asked for a citation, and offer to follow up with sourced figures rather than overstating precision live in the room. The core argument: the barrier isn't access to a smartphone, it's what happens (or doesn't) after someone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for a specific TAM/SAM/SOM figure with a dollar sign, be honest: CeloHT has not yet published a formal market-sizing study, and offering a fabricated number would undercut the credibility this whole deck is built on. Offer to follow up with a sourced estimate rather than inventing one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across the icon row as a literal user journey: learn, then trust, then the whole system remains sustainable. This is the visual spine of the entire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top-down: governance sits above programs, programs sit above the applications people actually touch, and everything runs on Celo infrastructure CeloHT doesn't own or control. This layering directly supports the 'not a blockchain' distinction from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products are in active development per the roadmap — the dApp is not yet in public beta. Be precise about this if asked; it's covered explicitly on the Traction &amp; KPIs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in the room — this slide exists so a technical due-diligence reviewer has the full stack at a glance, not for a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disclaimer at the bottom is not boilerplate — say it out loud if presenting to anyone from Celo Foundation itself. Precision here protects both organizations'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honesty is deliberate and load-bearing. Institutional reviewers (UNICEF Innovation, World Bank, IDB) run rigorous due diligence — a deck that quietly conflates 'framework' with 'results' gets caught immediately and costs more trust than it gains. Lead with the framework, then be explicit that Traction (slide 17) is where real current numbers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most directly answers 'what does CeloHT want from us.' The answer is: grant/partnership funding today, with a credible, dated path to reduced dependence — not an equity check, because there's no equity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competitors are deliberately generic categories, not specific companies — CeloHT hasn't published a formal competitive-intelligence study naming specific organizations, and inventing head-to-head comparisons against named competitors would overstate what's actually been researched.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moats built from constraints (no token, radical transparency) rather than typical startup moats (network effects, patents) — worth naming that distinction explicitly if asked how defensible this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geographic expansion deliberately waits until the pilot is validated — this is a direct, intentional contrast to growth-at-all-costs startup playbooks, and it's the right answer for this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institutional credibility. Do not let anyone rush past the red banner. If a reviewer values one thing above all in impact due diligence, it's a founder who tells them what hasn't happened yet as clearly as what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explicitly, out loud: these numbers are illustrative planning assumptions, not historical financials or audited projections — CeloHT is too early-stage to have multi-year actuals. The companion XLSX workbook is designed to be picked apart and edited live with a CFO or grants officer, which is the actual point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funding figure is illustrative and scoped to Phase 1–2 pilot validation specifically — precise final numbers depend on what this specific funder typically structures (unrestricted grant vs. restricted program grant vs. matched co-funding), and that conversation should happen live, not be pre-decided by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percentages are the same illustrative planning split as the financial model workbook — a grants officer will often want to remap this to their own required budget categories, which the workbook is built to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each phase gates the next — expansion in Phase 3 doesn't start until Phase 2's single-community validation is actually complete, not just scheduled.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be tempted to pad this slide with invented advisors or team members. If asked 'who else is on the team,' the honest answer is: the Maintainer Council is growing, named publicly as people join — that's a strength for a due-diligence-literate audience, not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risk has a named, structural mitigation — not just 'we'll manage it.' If pressed on any one risk, the underlying documentation repository has a full page of detail to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 frameworks are increasingly standard in institutional due diligence (IDB, USAID, World Bank especially) — this slide exists to make CeloHT's ESG alignment explicit and easy to extract into a reviewer's own framework, rather than making them infer it from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note you opened with: this is infrastructure for real communities, not a speculative pitch. Invite questions, and offer the companion financial model workbook and full documentation repository as immediate next-step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image" Target="../media/image-9-4.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image" Target="../media/image-18-1.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image" Target="../media/image-19-1.png"/><Relationship Id="rId4" Type="http://schemas.openxmlformats.org/officeDocument/2006/relationships/image" Target="../media/image-19-1.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pic>
        <p:nvPicPr>
          <p:cNvPr id="3" name="Image 0" descr="./icons/seedling_F5A623.png">    </p:cNvPr>
          <p:cNvPicPr>
            <a:picLocks noChangeAspect="1"/>
          </p:cNvPicPr>
          <p:nvPr/>
        </p:nvPicPr>
        <p:blipFill>
          <a:blip r:embed="rId1"/>
          <a:stretch>
            <a:fillRect/>
          </a:stretch>
        </p:blipFill>
        <p:spPr>
          <a:xfrm>
            <a:off x="822960" y="731520"/>
            <a:ext cx="640080" cy="640080"/>
          </a:xfrm>
          <a:prstGeom prst="rect">
            <a:avLst/>
          </a:prstGeom>
        </p:spPr>
      </p:pic>
      <p:sp>
        <p:nvSpPr>
          <p:cNvPr id="4" name="Text 1"/>
          <p:cNvSpPr/>
          <p:nvPr/>
        </p:nvSpPr>
        <p:spPr>
          <a:xfrm>
            <a:off x="777240" y="1463040"/>
            <a:ext cx="9144000" cy="914400"/>
          </a:xfrm>
          <a:prstGeom prst="rect">
            <a:avLst/>
          </a:prstGeom>
          <a:noFill/>
          <a:ln/>
        </p:spPr>
        <p:txBody>
          <a:bodyPr wrap="square" lIns="0" tIns="0" rIns="0" bIns="0" rtlCol="0" anchor="ctr"/>
          <a:lstStyle/>
          <a:p>
            <a:pPr indent="0" marL="0">
              <a:buNone/>
            </a:pPr>
            <a:r>
              <a:rPr lang="en-US" sz="5400" b="1" spc="200" kern="0" dirty="0">
                <a:solidFill>
                  <a:srgbClr val="FFFFFF"/>
                </a:solidFill>
                <a:latin typeface="Georgia" pitchFamily="34" charset="0"/>
                <a:ea typeface="Georgia" pitchFamily="34" charset="-122"/>
                <a:cs typeface="Georgia" pitchFamily="34" charset="-120"/>
              </a:rPr>
              <a:t>CELOHT</a:t>
            </a:r>
            <a:endParaRPr lang="en-US" sz="5400" dirty="0"/>
          </a:p>
        </p:txBody>
      </p:sp>
      <p:sp>
        <p:nvSpPr>
          <p:cNvPr id="5" name="Text 2"/>
          <p:cNvSpPr/>
          <p:nvPr/>
        </p:nvSpPr>
        <p:spPr>
          <a:xfrm>
            <a:off x="822960" y="2514600"/>
            <a:ext cx="9601200" cy="1005840"/>
          </a:xfrm>
          <a:prstGeom prst="rect">
            <a:avLst/>
          </a:prstGeom>
          <a:noFill/>
          <a:ln/>
        </p:spPr>
        <p:txBody>
          <a:bodyPr wrap="square" lIns="0" tIns="0" rIns="0" bIns="0" rtlCol="0" anchor="ctr"/>
          <a:lstStyle/>
          <a:p>
            <a:pPr indent="0" marL="0">
              <a:lnSpc>
                <a:spcPts val="3000"/>
              </a:lnSpc>
              <a:buNone/>
            </a:pPr>
            <a:r>
              <a:rPr lang="en-US" sz="2200" i="1" dirty="0">
                <a:solidFill>
                  <a:srgbClr val="F5A623"/>
                </a:solidFill>
                <a:latin typeface="Calibri" pitchFamily="34" charset="0"/>
                <a:ea typeface="Calibri" pitchFamily="34" charset="-122"/>
                <a:cs typeface="Calibri" pitchFamily="34" charset="-120"/>
              </a:rPr>
              <a:t>Financial Inclusion, Web3 Education, and Reforestation —</a:t>
            </a:r>
            <a:endParaRPr lang="en-US" sz="2200" dirty="0"/>
          </a:p>
          <a:p>
            <a:pPr indent="0" marL="0">
              <a:lnSpc>
                <a:spcPts val="3000"/>
              </a:lnSpc>
              <a:buNone/>
            </a:pPr>
            <a:r>
              <a:rPr lang="en-US" sz="2200" i="1" dirty="0">
                <a:solidFill>
                  <a:srgbClr val="F5A623"/>
                </a:solidFill>
                <a:latin typeface="Calibri" pitchFamily="34" charset="0"/>
                <a:ea typeface="Calibri" pitchFamily="34" charset="-122"/>
                <a:cs typeface="Calibri" pitchFamily="34" charset="-120"/>
              </a:rPr>
              <a:t>Built Openly, in Haiti, for Haiti</a:t>
            </a:r>
            <a:endParaRPr lang="en-US" sz="2200" dirty="0"/>
          </a:p>
        </p:txBody>
      </p:sp>
      <p:sp>
        <p:nvSpPr>
          <p:cNvPr id="6" name="Text 3"/>
          <p:cNvSpPr/>
          <p:nvPr/>
        </p:nvSpPr>
        <p:spPr>
          <a:xfrm>
            <a:off x="822960" y="3794760"/>
            <a:ext cx="7315200" cy="457200"/>
          </a:xfrm>
          <a:prstGeom prst="rect">
            <a:avLst/>
          </a:prstGeom>
          <a:noFill/>
          <a:ln/>
        </p:spPr>
        <p:txBody>
          <a:bodyPr wrap="square" lIns="0" tIns="0" rIns="0" bIns="0" rtlCol="0" anchor="ctr"/>
          <a:lstStyle/>
          <a:p>
            <a:pPr indent="0" marL="0">
              <a:buNone/>
            </a:pPr>
            <a:r>
              <a:rPr lang="en-US" sz="1600" dirty="0">
                <a:solidFill>
                  <a:srgbClr val="D4D4D4"/>
                </a:solidFill>
                <a:latin typeface="Calibri" pitchFamily="34" charset="0"/>
                <a:ea typeface="Calibri" pitchFamily="34" charset="-122"/>
                <a:cs typeface="Calibri" pitchFamily="34" charset="-120"/>
              </a:rPr>
              <a:t>Investor &amp; Partner Briefing</a:t>
            </a:r>
            <a:endParaRPr lang="en-US" sz="1600" dirty="0"/>
          </a:p>
        </p:txBody>
      </p:sp>
      <p:sp>
        <p:nvSpPr>
          <p:cNvPr id="7" name="Shape 4"/>
          <p:cNvSpPr/>
          <p:nvPr/>
        </p:nvSpPr>
        <p:spPr>
          <a:xfrm>
            <a:off x="822960" y="4343400"/>
            <a:ext cx="2926080" cy="0"/>
          </a:xfrm>
          <a:prstGeom prst="line">
            <a:avLst/>
          </a:prstGeom>
          <a:noFill/>
          <a:ln w="19050">
            <a:solidFill>
              <a:srgbClr val="F5A623"/>
            </a:solidFill>
            <a:prstDash val="solid"/>
          </a:ln>
        </p:spPr>
      </p:sp>
      <p:sp>
        <p:nvSpPr>
          <p:cNvPr id="8" name="Text 5"/>
          <p:cNvSpPr/>
          <p:nvPr/>
        </p:nvSpPr>
        <p:spPr>
          <a:xfrm>
            <a:off x="822960" y="5989320"/>
            <a:ext cx="7315200" cy="36576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Léogâne, Haiti  ·  Founded by Johnny Dubic  ·  2026</a:t>
            </a:r>
            <a:endParaRPr lang="en-US" sz="1300" dirty="0"/>
          </a:p>
        </p:txBody>
      </p:sp>
      <p:sp>
        <p:nvSpPr>
          <p:cNvPr id="9" name="Text 6"/>
          <p:cNvSpPr/>
          <p:nvPr/>
        </p:nvSpPr>
        <p:spPr>
          <a:xfrm>
            <a:off x="822960" y="6309360"/>
            <a:ext cx="7315200" cy="32004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Community-governed  ·  Open source (Apache 2.0)  ·  No token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EXECUTIVE SUMMARY</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One initiative, three interlocking pillars</a:t>
            </a:r>
            <a:endParaRPr lang="en-US" sz="3600" dirty="0"/>
          </a:p>
        </p:txBody>
      </p:sp>
      <p:sp>
        <p:nvSpPr>
          <p:cNvPr id="4" name="Shape 2"/>
          <p:cNvSpPr/>
          <p:nvPr/>
        </p:nvSpPr>
        <p:spPr>
          <a:xfrm>
            <a:off x="640080" y="1965960"/>
            <a:ext cx="3429000" cy="2468880"/>
          </a:xfrm>
          <a:prstGeom prst="roundRect">
            <a:avLst>
              <a:gd name="adj" fmla="val 4444"/>
            </a:avLst>
          </a:prstGeom>
          <a:solidFill>
            <a:srgbClr val="FAF9F6"/>
          </a:solidFill>
          <a:ln/>
        </p:spPr>
      </p:sp>
      <p:pic>
        <p:nvPicPr>
          <p:cNvPr id="5" name="Image 0" descr="./icons/education_1B2A4A.png">    </p:cNvPr>
          <p:cNvPicPr>
            <a:picLocks noChangeAspect="1"/>
          </p:cNvPicPr>
          <p:nvPr/>
        </p:nvPicPr>
        <p:blipFill>
          <a:blip r:embed="rId1"/>
          <a:stretch>
            <a:fillRect/>
          </a:stretch>
        </p:blipFill>
        <p:spPr>
          <a:xfrm>
            <a:off x="914400" y="2240280"/>
            <a:ext cx="502920" cy="502920"/>
          </a:xfrm>
          <a:prstGeom prst="rect">
            <a:avLst/>
          </a:prstGeom>
        </p:spPr>
      </p:pic>
      <p:sp>
        <p:nvSpPr>
          <p:cNvPr id="6" name="Text 3"/>
          <p:cNvSpPr/>
          <p:nvPr/>
        </p:nvSpPr>
        <p:spPr>
          <a:xfrm>
            <a:off x="914400" y="2834640"/>
            <a:ext cx="2926080" cy="36576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Education</a:t>
            </a:r>
            <a:endParaRPr lang="en-US" sz="1800" dirty="0"/>
          </a:p>
        </p:txBody>
      </p:sp>
      <p:sp>
        <p:nvSpPr>
          <p:cNvPr id="7" name="Text 4"/>
          <p:cNvSpPr/>
          <p:nvPr/>
        </p:nvSpPr>
        <p:spPr>
          <a:xfrm>
            <a:off x="914400" y="3246120"/>
            <a:ext cx="2926080" cy="105156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Financial and Web3 literacy delivered primarily in Haitian Creole — understanding before access, always.</a:t>
            </a:r>
            <a:endParaRPr lang="en-US" sz="1250" dirty="0"/>
          </a:p>
        </p:txBody>
      </p:sp>
      <p:sp>
        <p:nvSpPr>
          <p:cNvPr id="8" name="Shape 5"/>
          <p:cNvSpPr/>
          <p:nvPr/>
        </p:nvSpPr>
        <p:spPr>
          <a:xfrm>
            <a:off x="4343400" y="1965960"/>
            <a:ext cx="3429000" cy="2468880"/>
          </a:xfrm>
          <a:prstGeom prst="roundRect">
            <a:avLst>
              <a:gd name="adj" fmla="val 4444"/>
            </a:avLst>
          </a:prstGeom>
          <a:solidFill>
            <a:srgbClr val="FAF9F6"/>
          </a:solidFill>
          <a:ln/>
        </p:spPr>
      </p:sp>
      <p:pic>
        <p:nvPicPr>
          <p:cNvPr id="9" name="Image 1" descr="./icons/agents_1B2A4A.png">    </p:cNvPr>
          <p:cNvPicPr>
            <a:picLocks noChangeAspect="1"/>
          </p:cNvPicPr>
          <p:nvPr/>
        </p:nvPicPr>
        <p:blipFill>
          <a:blip r:embed="rId2"/>
          <a:stretch>
            <a:fillRect/>
          </a:stretch>
        </p:blipFill>
        <p:spPr>
          <a:xfrm>
            <a:off x="4617720" y="2240280"/>
            <a:ext cx="502920" cy="502920"/>
          </a:xfrm>
          <a:prstGeom prst="rect">
            <a:avLst/>
          </a:prstGeom>
        </p:spPr>
      </p:pic>
      <p:sp>
        <p:nvSpPr>
          <p:cNvPr id="10" name="Text 6"/>
          <p:cNvSpPr/>
          <p:nvPr/>
        </p:nvSpPr>
        <p:spPr>
          <a:xfrm>
            <a:off x="4617720" y="2834640"/>
            <a:ext cx="2926080" cy="36576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Agent Network</a:t>
            </a:r>
            <a:endParaRPr lang="en-US" sz="1800" dirty="0"/>
          </a:p>
        </p:txBody>
      </p:sp>
      <p:sp>
        <p:nvSpPr>
          <p:cNvPr id="11" name="Text 7"/>
          <p:cNvSpPr/>
          <p:nvPr/>
        </p:nvSpPr>
        <p:spPr>
          <a:xfrm>
            <a:off x="4617720" y="3246120"/>
            <a:ext cx="2926080" cy="105156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Trained, verified community members providing real human support for cash-to-digital conversion.</a:t>
            </a:r>
            <a:endParaRPr lang="en-US" sz="1250" dirty="0"/>
          </a:p>
        </p:txBody>
      </p:sp>
      <p:sp>
        <p:nvSpPr>
          <p:cNvPr id="12" name="Shape 8"/>
          <p:cNvSpPr/>
          <p:nvPr/>
        </p:nvSpPr>
        <p:spPr>
          <a:xfrm>
            <a:off x="8046720" y="1965960"/>
            <a:ext cx="3429000" cy="2468880"/>
          </a:xfrm>
          <a:prstGeom prst="roundRect">
            <a:avLst>
              <a:gd name="adj" fmla="val 4444"/>
            </a:avLst>
          </a:prstGeom>
          <a:solidFill>
            <a:srgbClr val="FAF9F6"/>
          </a:solidFill>
          <a:ln/>
        </p:spPr>
      </p:sp>
      <p:pic>
        <p:nvPicPr>
          <p:cNvPr id="13" name="Image 2" descr="./icons/tree_1B2A4A.png">    </p:cNvPr>
          <p:cNvPicPr>
            <a:picLocks noChangeAspect="1"/>
          </p:cNvPicPr>
          <p:nvPr/>
        </p:nvPicPr>
        <p:blipFill>
          <a:blip r:embed="rId3"/>
          <a:stretch>
            <a:fillRect/>
          </a:stretch>
        </p:blipFill>
        <p:spPr>
          <a:xfrm>
            <a:off x="8321040" y="2240280"/>
            <a:ext cx="502920" cy="502920"/>
          </a:xfrm>
          <a:prstGeom prst="rect">
            <a:avLst/>
          </a:prstGeom>
        </p:spPr>
      </p:pic>
      <p:sp>
        <p:nvSpPr>
          <p:cNvPr id="14" name="Text 9"/>
          <p:cNvSpPr/>
          <p:nvPr/>
        </p:nvSpPr>
        <p:spPr>
          <a:xfrm>
            <a:off x="8321040" y="2834640"/>
            <a:ext cx="2926080" cy="36576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Reforestation</a:t>
            </a:r>
            <a:endParaRPr lang="en-US" sz="1800" dirty="0"/>
          </a:p>
        </p:txBody>
      </p:sp>
      <p:sp>
        <p:nvSpPr>
          <p:cNvPr id="15" name="Text 10"/>
          <p:cNvSpPr/>
          <p:nvPr/>
        </p:nvSpPr>
        <p:spPr>
          <a:xfrm>
            <a:off x="8321040" y="3246120"/>
            <a:ext cx="2926080" cy="105156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Community-led planting with verified survival tracking — a permanent pillar, not an offset.</a:t>
            </a:r>
            <a:endParaRPr lang="en-US" sz="1250" dirty="0"/>
          </a:p>
        </p:txBody>
      </p:sp>
      <p:sp>
        <p:nvSpPr>
          <p:cNvPr id="16" name="Text 11"/>
          <p:cNvSpPr/>
          <p:nvPr/>
        </p:nvSpPr>
        <p:spPr>
          <a:xfrm>
            <a:off x="640080" y="4709160"/>
            <a:ext cx="10881360" cy="1188720"/>
          </a:xfrm>
          <a:prstGeom prst="rect">
            <a:avLst/>
          </a:prstGeom>
          <a:noFill/>
          <a:ln/>
        </p:spPr>
        <p:txBody>
          <a:bodyPr wrap="square" lIns="0" tIns="0" rIns="0" bIns="0" rtlCol="0" anchor="ctr"/>
          <a:lstStyle/>
          <a:p>
            <a:pPr indent="0" marL="0">
              <a:lnSpc>
                <a:spcPts val="2000"/>
              </a:lnSpc>
              <a:buNone/>
            </a:pPr>
            <a:r>
              <a:rPr lang="en-US" sz="1400" dirty="0">
                <a:solidFill>
                  <a:srgbClr val="4A5568"/>
                </a:solidFill>
                <a:latin typeface="Calibri" pitchFamily="34" charset="0"/>
                <a:ea typeface="Calibri" pitchFamily="34" charset="-122"/>
                <a:cs typeface="Calibri" pitchFamily="34" charset="-120"/>
              </a:rPr>
              <a:t>CeloHT is a Haitian-led, open-source, community-governed initiative built on the Celo ecosystem. </a:t>
            </a:r>
            <a:pPr indent="0" marL="0">
              <a:lnSpc>
                <a:spcPts val="2000"/>
              </a:lnSpc>
              <a:buNone/>
            </a:pPr>
            <a:r>
              <a:rPr lang="en-US" sz="1400" b="1" dirty="0">
                <a:solidFill>
                  <a:srgbClr val="1B2A4A"/>
                </a:solidFill>
                <a:latin typeface="Calibri" pitchFamily="34" charset="0"/>
                <a:ea typeface="Calibri" pitchFamily="34" charset="-122"/>
                <a:cs typeface="Calibri" pitchFamily="34" charset="-120"/>
              </a:rPr>
              <a:t>It is not a blockchain, not a token, and not an investment vehicle</a:t>
            </a:r>
            <a:pPr indent="0" marL="0">
              <a:lnSpc>
                <a:spcPts val="2000"/>
              </a:lnSpc>
              <a:buNone/>
            </a:pPr>
            <a:r>
              <a:rPr lang="en-US" sz="1400" dirty="0">
                <a:solidFill>
                  <a:srgbClr val="4A5568"/>
                </a:solidFill>
                <a:latin typeface="Calibri" pitchFamily="34" charset="0"/>
                <a:ea typeface="Calibri" pitchFamily="34" charset="-122"/>
                <a:cs typeface="Calibri" pitchFamily="34" charset="-120"/>
              </a:rPr>
              <a:t> — it is real infrastructure for real communities, funded through grants and partnerships, not speculation.</a:t>
            </a:r>
            <a:endParaRPr lang="en-US" sz="1400" dirty="0"/>
          </a:p>
        </p:txBody>
      </p:sp>
      <p:sp>
        <p:nvSpPr>
          <p:cNvPr id="17"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8"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VISION</a:t>
            </a:r>
            <a:endParaRPr lang="en-US" sz="1300" dirty="0"/>
          </a:p>
        </p:txBody>
      </p:sp>
      <p:sp>
        <p:nvSpPr>
          <p:cNvPr id="3" name="Text 1"/>
          <p:cNvSpPr/>
          <p:nvPr/>
        </p:nvSpPr>
        <p:spPr>
          <a:xfrm>
            <a:off x="640080" y="1463040"/>
            <a:ext cx="10515600" cy="1828800"/>
          </a:xfrm>
          <a:prstGeom prst="rect">
            <a:avLst/>
          </a:prstGeom>
          <a:noFill/>
          <a:ln/>
        </p:spPr>
        <p:txBody>
          <a:bodyPr wrap="square" lIns="0" tIns="0" rIns="0" bIns="0" rtlCol="0" anchor="ctr"/>
          <a:lstStyle/>
          <a:p>
            <a:pPr indent="0" marL="0">
              <a:lnSpc>
                <a:spcPts val="4200"/>
              </a:lnSpc>
              <a:buNone/>
            </a:pPr>
            <a:r>
              <a:rPr lang="en-US" sz="3200" b="1" dirty="0">
                <a:solidFill>
                  <a:srgbClr val="FFFFFF"/>
                </a:solidFill>
                <a:latin typeface="Georgia" pitchFamily="34" charset="0"/>
                <a:ea typeface="Georgia" pitchFamily="34" charset="-122"/>
                <a:cs typeface="Georgia" pitchFamily="34" charset="-120"/>
              </a:rPr>
              <a:t>A future where distance from a bank</a:t>
            </a:r>
            <a:endParaRPr lang="en-US" sz="3200" dirty="0"/>
          </a:p>
          <a:p>
            <a:pPr indent="0" marL="0">
              <a:lnSpc>
                <a:spcPts val="4200"/>
              </a:lnSpc>
              <a:buNone/>
            </a:pPr>
            <a:r>
              <a:rPr lang="en-US" sz="3200" b="1" dirty="0">
                <a:solidFill>
                  <a:srgbClr val="FFFFFF"/>
                </a:solidFill>
                <a:latin typeface="Georgia" pitchFamily="34" charset="0"/>
                <a:ea typeface="Georgia" pitchFamily="34" charset="-122"/>
                <a:cs typeface="Georgia" pitchFamily="34" charset="-120"/>
              </a:rPr>
              <a:t>no longer decides your opportunity.</a:t>
            </a:r>
            <a:endParaRPr lang="en-US" sz="3200" dirty="0"/>
          </a:p>
        </p:txBody>
      </p:sp>
      <p:sp>
        <p:nvSpPr>
          <p:cNvPr id="4" name="Text 2"/>
          <p:cNvSpPr/>
          <p:nvPr/>
        </p:nvSpPr>
        <p:spPr>
          <a:xfrm>
            <a:off x="640080" y="3657600"/>
            <a:ext cx="9875520" cy="1188720"/>
          </a:xfrm>
          <a:prstGeom prst="rect">
            <a:avLst/>
          </a:prstGeom>
          <a:noFill/>
          <a:ln/>
        </p:spPr>
        <p:txBody>
          <a:bodyPr wrap="square" lIns="0" tIns="0" rIns="0" bIns="0" rtlCol="0" anchor="ctr"/>
          <a:lstStyle/>
          <a:p>
            <a:pPr indent="0" marL="0">
              <a:lnSpc>
                <a:spcPts val="2400"/>
              </a:lnSpc>
              <a:buNone/>
            </a:pPr>
            <a:r>
              <a:rPr lang="en-US" sz="1600" dirty="0">
                <a:solidFill>
                  <a:srgbClr val="D4D4D4"/>
                </a:solidFill>
                <a:latin typeface="Calibri" pitchFamily="34" charset="0"/>
                <a:ea typeface="Calibri" pitchFamily="34" charset="-122"/>
                <a:cs typeface="Calibri" pitchFamily="34" charset="-120"/>
              </a:rPr>
              <a:t>A Haiti — and over time, a wider Caribbean — where communities access education, financial tools, and opportunity through blockchain, without being exposed to the speculative risks that have damaged trust in Web3 elsewhere.</a:t>
            </a:r>
            <a:endParaRPr lang="en-US" sz="1600" dirty="0"/>
          </a:p>
        </p:txBody>
      </p:sp>
      <p:sp>
        <p:nvSpPr>
          <p:cNvPr id="5" name="Shape 3"/>
          <p:cNvSpPr/>
          <p:nvPr/>
        </p:nvSpPr>
        <p:spPr>
          <a:xfrm>
            <a:off x="640080" y="5120640"/>
            <a:ext cx="10058400" cy="1051560"/>
          </a:xfrm>
          <a:prstGeom prst="roundRect">
            <a:avLst>
              <a:gd name="adj" fmla="val 8696"/>
            </a:avLst>
          </a:prstGeom>
          <a:solidFill>
            <a:srgbClr val="101A30"/>
          </a:solidFill>
          <a:ln/>
        </p:spPr>
      </p:sp>
      <p:pic>
        <p:nvPicPr>
          <p:cNvPr id="6" name="Image 0" descr="./icons/target_F5A623.png">    </p:cNvPr>
          <p:cNvPicPr>
            <a:picLocks noChangeAspect="1"/>
          </p:cNvPicPr>
          <p:nvPr/>
        </p:nvPicPr>
        <p:blipFill>
          <a:blip r:embed="rId1"/>
          <a:stretch>
            <a:fillRect/>
          </a:stretch>
        </p:blipFill>
        <p:spPr>
          <a:xfrm>
            <a:off x="868680" y="5349240"/>
            <a:ext cx="457200" cy="457200"/>
          </a:xfrm>
          <a:prstGeom prst="rect">
            <a:avLst/>
          </a:prstGeom>
        </p:spPr>
      </p:pic>
      <p:sp>
        <p:nvSpPr>
          <p:cNvPr id="7" name="Text 4"/>
          <p:cNvSpPr/>
          <p:nvPr/>
        </p:nvSpPr>
        <p:spPr>
          <a:xfrm>
            <a:off x="1508760" y="5257800"/>
            <a:ext cx="8869680" cy="82296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Success looks like communities that trust, understand, and independently use the tools we build — not communities that depend on us indefinitely.</a:t>
            </a:r>
            <a:endParaRPr lang="en-US" sz="135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MISSION</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Expand financial inclusion through</a:t>
            </a:r>
            <a:endParaRPr lang="en-US" sz="3000" dirty="0"/>
          </a:p>
          <a:p>
            <a:pPr indent="0" marL="0">
              <a:buNone/>
            </a:pPr>
            <a:r>
              <a:rPr lang="en-US" sz="3000" b="1" dirty="0">
                <a:solidFill>
                  <a:srgbClr val="1B2A4A"/>
                </a:solidFill>
                <a:latin typeface="Georgia" pitchFamily="34" charset="0"/>
                <a:ea typeface="Georgia" pitchFamily="34" charset="-122"/>
                <a:cs typeface="Georgia" pitchFamily="34" charset="-120"/>
              </a:rPr>
              <a:t>education, agents, and reforestation</a:t>
            </a:r>
            <a:endParaRPr lang="en-US" sz="3000" dirty="0"/>
          </a:p>
        </p:txBody>
      </p:sp>
      <p:sp>
        <p:nvSpPr>
          <p:cNvPr id="4" name="Shape 2"/>
          <p:cNvSpPr/>
          <p:nvPr/>
        </p:nvSpPr>
        <p:spPr>
          <a:xfrm>
            <a:off x="640080" y="2514600"/>
            <a:ext cx="502920" cy="502920"/>
          </a:xfrm>
          <a:prstGeom prst="ellipse">
            <a:avLst/>
          </a:prstGeom>
          <a:solidFill>
            <a:srgbClr val="F5A623"/>
          </a:solidFill>
          <a:ln/>
        </p:spPr>
      </p:sp>
      <p:sp>
        <p:nvSpPr>
          <p:cNvPr id="5" name="Text 3"/>
          <p:cNvSpPr/>
          <p:nvPr/>
        </p:nvSpPr>
        <p:spPr>
          <a:xfrm>
            <a:off x="640080" y="2514600"/>
            <a:ext cx="50292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417320" y="2468880"/>
            <a:ext cx="3931920" cy="5486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Education first</a:t>
            </a:r>
            <a:endParaRPr lang="en-US" sz="1600" dirty="0"/>
          </a:p>
        </p:txBody>
      </p:sp>
      <p:sp>
        <p:nvSpPr>
          <p:cNvPr id="7" name="Text 5"/>
          <p:cNvSpPr/>
          <p:nvPr/>
        </p:nvSpPr>
        <p:spPr>
          <a:xfrm>
            <a:off x="1417320" y="2898648"/>
            <a:ext cx="9326880" cy="59436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No one is introduced to a financial tool before understanding it — never the other way around.</a:t>
            </a:r>
            <a:endParaRPr lang="en-US" sz="1300" dirty="0"/>
          </a:p>
        </p:txBody>
      </p:sp>
      <p:sp>
        <p:nvSpPr>
          <p:cNvPr id="8" name="Shape 6"/>
          <p:cNvSpPr/>
          <p:nvPr/>
        </p:nvSpPr>
        <p:spPr>
          <a:xfrm>
            <a:off x="640080" y="3749040"/>
            <a:ext cx="502920" cy="502920"/>
          </a:xfrm>
          <a:prstGeom prst="ellipse">
            <a:avLst/>
          </a:prstGeom>
          <a:solidFill>
            <a:srgbClr val="F5A623"/>
          </a:solidFill>
          <a:ln/>
        </p:spPr>
      </p:sp>
      <p:sp>
        <p:nvSpPr>
          <p:cNvPr id="9" name="Text 7"/>
          <p:cNvSpPr/>
          <p:nvPr/>
        </p:nvSpPr>
        <p:spPr>
          <a:xfrm>
            <a:off x="640080" y="3749040"/>
            <a:ext cx="50292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Georgia" pitchFamily="34" charset="0"/>
                <a:ea typeface="Georgia" pitchFamily="34" charset="-122"/>
                <a:cs typeface="Georgia" pitchFamily="34" charset="-120"/>
              </a:rPr>
              <a:t>2</a:t>
            </a:r>
            <a:endParaRPr lang="en-US" sz="2000" dirty="0"/>
          </a:p>
        </p:txBody>
      </p:sp>
      <p:sp>
        <p:nvSpPr>
          <p:cNvPr id="10" name="Text 8"/>
          <p:cNvSpPr/>
          <p:nvPr/>
        </p:nvSpPr>
        <p:spPr>
          <a:xfrm>
            <a:off x="1417320" y="3703320"/>
            <a:ext cx="3931920" cy="5486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Human trust, not just an app</a:t>
            </a:r>
            <a:endParaRPr lang="en-US" sz="1600" dirty="0"/>
          </a:p>
        </p:txBody>
      </p:sp>
      <p:sp>
        <p:nvSpPr>
          <p:cNvPr id="11" name="Text 9"/>
          <p:cNvSpPr/>
          <p:nvPr/>
        </p:nvSpPr>
        <p:spPr>
          <a:xfrm>
            <a:off x="1417320" y="4133088"/>
            <a:ext cx="9326880" cy="59436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A trained local agent, not a download button, is how first-time users build confidence.</a:t>
            </a:r>
            <a:endParaRPr lang="en-US" sz="1300" dirty="0"/>
          </a:p>
        </p:txBody>
      </p:sp>
      <p:sp>
        <p:nvSpPr>
          <p:cNvPr id="12" name="Shape 10"/>
          <p:cNvSpPr/>
          <p:nvPr/>
        </p:nvSpPr>
        <p:spPr>
          <a:xfrm>
            <a:off x="640080" y="4983480"/>
            <a:ext cx="502920" cy="502920"/>
          </a:xfrm>
          <a:prstGeom prst="ellipse">
            <a:avLst/>
          </a:prstGeom>
          <a:solidFill>
            <a:srgbClr val="F5A623"/>
          </a:solidFill>
          <a:ln/>
        </p:spPr>
      </p:sp>
      <p:sp>
        <p:nvSpPr>
          <p:cNvPr id="13" name="Text 11"/>
          <p:cNvSpPr/>
          <p:nvPr/>
        </p:nvSpPr>
        <p:spPr>
          <a:xfrm>
            <a:off x="640080" y="4983480"/>
            <a:ext cx="50292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417320" y="4937760"/>
            <a:ext cx="3931920" cy="5486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Growth that doesn't cost the land</a:t>
            </a:r>
            <a:endParaRPr lang="en-US" sz="1600" dirty="0"/>
          </a:p>
        </p:txBody>
      </p:sp>
      <p:sp>
        <p:nvSpPr>
          <p:cNvPr id="15" name="Text 13"/>
          <p:cNvSpPr/>
          <p:nvPr/>
        </p:nvSpPr>
        <p:spPr>
          <a:xfrm>
            <a:off x="1417320" y="5367528"/>
            <a:ext cx="9326880" cy="59436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Financial development and environmental stewardship are one goal, not two competing ones.</a:t>
            </a:r>
            <a:endParaRPr lang="en-US" sz="1300" dirty="0"/>
          </a:p>
        </p:txBody>
      </p:sp>
      <p:sp>
        <p:nvSpPr>
          <p:cNvPr id="16"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Access is growing faster than understanding</a:t>
            </a:r>
            <a:endParaRPr lang="en-US" sz="3600" dirty="0"/>
          </a:p>
        </p:txBody>
      </p:sp>
      <p:sp>
        <p:nvSpPr>
          <p:cNvPr id="4" name="Shape 2"/>
          <p:cNvSpPr/>
          <p:nvPr/>
        </p:nvSpPr>
        <p:spPr>
          <a:xfrm>
            <a:off x="640080" y="2057400"/>
            <a:ext cx="5212080" cy="1691640"/>
          </a:xfrm>
          <a:prstGeom prst="roundRect">
            <a:avLst>
              <a:gd name="adj" fmla="val 5405"/>
            </a:avLst>
          </a:prstGeom>
          <a:solidFill>
            <a:srgbClr val="FAF9F6"/>
          </a:solidFill>
          <a:ln/>
        </p:spPr>
      </p:sp>
      <p:sp>
        <p:nvSpPr>
          <p:cNvPr id="5" name="Text 3"/>
          <p:cNvSpPr/>
          <p:nvPr/>
        </p:nvSpPr>
        <p:spPr>
          <a:xfrm>
            <a:off x="960120" y="224028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Limited</a:t>
            </a:r>
            <a:endParaRPr lang="en-US" sz="2200" dirty="0"/>
          </a:p>
        </p:txBody>
      </p:sp>
      <p:sp>
        <p:nvSpPr>
          <p:cNvPr id="6" name="Text 4"/>
          <p:cNvSpPr/>
          <p:nvPr/>
        </p:nvSpPr>
        <p:spPr>
          <a:xfrm>
            <a:off x="960120" y="283464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traditional banking access outside urban centers in Haiti</a:t>
            </a:r>
            <a:endParaRPr lang="en-US" sz="1300" dirty="0"/>
          </a:p>
        </p:txBody>
      </p:sp>
      <p:sp>
        <p:nvSpPr>
          <p:cNvPr id="7" name="Shape 5"/>
          <p:cNvSpPr/>
          <p:nvPr/>
        </p:nvSpPr>
        <p:spPr>
          <a:xfrm>
            <a:off x="6217920" y="2057400"/>
            <a:ext cx="5212080" cy="1691640"/>
          </a:xfrm>
          <a:prstGeom prst="roundRect">
            <a:avLst>
              <a:gd name="adj" fmla="val 5405"/>
            </a:avLst>
          </a:prstGeom>
          <a:solidFill>
            <a:srgbClr val="FAF9F6"/>
          </a:solidFill>
          <a:ln/>
        </p:spPr>
      </p:sp>
      <p:sp>
        <p:nvSpPr>
          <p:cNvPr id="8" name="Text 6"/>
          <p:cNvSpPr/>
          <p:nvPr/>
        </p:nvSpPr>
        <p:spPr>
          <a:xfrm>
            <a:off x="6537960" y="224028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Rising</a:t>
            </a:r>
            <a:endParaRPr lang="en-US" sz="2200" dirty="0"/>
          </a:p>
        </p:txBody>
      </p:sp>
      <p:sp>
        <p:nvSpPr>
          <p:cNvPr id="9" name="Text 7"/>
          <p:cNvSpPr/>
          <p:nvPr/>
        </p:nvSpPr>
        <p:spPr>
          <a:xfrm>
            <a:off x="6537960" y="283464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mobile and smartphone penetration, outpacing financial literacy</a:t>
            </a:r>
            <a:endParaRPr lang="en-US" sz="1300" dirty="0"/>
          </a:p>
        </p:txBody>
      </p:sp>
      <p:sp>
        <p:nvSpPr>
          <p:cNvPr id="10" name="Shape 8"/>
          <p:cNvSpPr/>
          <p:nvPr/>
        </p:nvSpPr>
        <p:spPr>
          <a:xfrm>
            <a:off x="640080" y="4023360"/>
            <a:ext cx="5212080" cy="1691640"/>
          </a:xfrm>
          <a:prstGeom prst="roundRect">
            <a:avLst>
              <a:gd name="adj" fmla="val 5405"/>
            </a:avLst>
          </a:prstGeom>
          <a:solidFill>
            <a:srgbClr val="FAF9F6"/>
          </a:solidFill>
          <a:ln/>
        </p:spPr>
      </p:sp>
      <p:sp>
        <p:nvSpPr>
          <p:cNvPr id="11" name="Text 9"/>
          <p:cNvSpPr/>
          <p:nvPr/>
        </p:nvSpPr>
        <p:spPr>
          <a:xfrm>
            <a:off x="960120" y="420624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English/French</a:t>
            </a:r>
            <a:endParaRPr lang="en-US" sz="2200" dirty="0"/>
          </a:p>
        </p:txBody>
      </p:sp>
      <p:sp>
        <p:nvSpPr>
          <p:cNvPr id="12" name="Text 10"/>
          <p:cNvSpPr/>
          <p:nvPr/>
        </p:nvSpPr>
        <p:spPr>
          <a:xfrm>
            <a:off x="960120" y="480060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is the default language of financial and Web3 education — not Haitian Creole</a:t>
            </a:r>
            <a:endParaRPr lang="en-US" sz="1300" dirty="0"/>
          </a:p>
        </p:txBody>
      </p:sp>
      <p:sp>
        <p:nvSpPr>
          <p:cNvPr id="13" name="Shape 11"/>
          <p:cNvSpPr/>
          <p:nvPr/>
        </p:nvSpPr>
        <p:spPr>
          <a:xfrm>
            <a:off x="6217920" y="4023360"/>
            <a:ext cx="5212080" cy="1691640"/>
          </a:xfrm>
          <a:prstGeom prst="roundRect">
            <a:avLst>
              <a:gd name="adj" fmla="val 5405"/>
            </a:avLst>
          </a:prstGeom>
          <a:solidFill>
            <a:srgbClr val="FAF9F6"/>
          </a:solidFill>
          <a:ln/>
        </p:spPr>
      </p:sp>
      <p:sp>
        <p:nvSpPr>
          <p:cNvPr id="14" name="Text 12"/>
          <p:cNvSpPr/>
          <p:nvPr/>
        </p:nvSpPr>
        <p:spPr>
          <a:xfrm>
            <a:off x="6537960" y="420624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Linked</a:t>
            </a:r>
            <a:endParaRPr lang="en-US" sz="2200" dirty="0"/>
          </a:p>
        </p:txBody>
      </p:sp>
      <p:sp>
        <p:nvSpPr>
          <p:cNvPr id="15" name="Text 13"/>
          <p:cNvSpPr/>
          <p:nvPr/>
        </p:nvSpPr>
        <p:spPr>
          <a:xfrm>
            <a:off x="6537960" y="480060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deforestation and economic insecurity reinforce each other</a:t>
            </a:r>
            <a:endParaRPr lang="en-US" sz="1300" dirty="0"/>
          </a:p>
        </p:txBody>
      </p:sp>
      <p:sp>
        <p:nvSpPr>
          <p:cNvPr id="16"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MARKET OPPORTUNITY</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 large, underserved population — and a model built to reach it</a:t>
            </a:r>
            <a:endParaRPr lang="en-US" sz="3600" dirty="0"/>
          </a:p>
        </p:txBody>
      </p:sp>
      <p:sp>
        <p:nvSpPr>
          <p:cNvPr id="4" name="Shape 2"/>
          <p:cNvSpPr/>
          <p:nvPr/>
        </p:nvSpPr>
        <p:spPr>
          <a:xfrm>
            <a:off x="640080" y="2011680"/>
            <a:ext cx="5120640" cy="3931920"/>
          </a:xfrm>
          <a:prstGeom prst="roundRect">
            <a:avLst>
              <a:gd name="adj" fmla="val 2326"/>
            </a:avLst>
          </a:prstGeom>
          <a:solidFill>
            <a:srgbClr val="1B2A4A"/>
          </a:solidFill>
          <a:ln/>
        </p:spPr>
      </p:sp>
      <p:pic>
        <p:nvPicPr>
          <p:cNvPr id="5" name="Image 0" descr="./icons/globe_F5A623.png">    </p:cNvPr>
          <p:cNvPicPr>
            <a:picLocks noChangeAspect="1"/>
          </p:cNvPicPr>
          <p:nvPr/>
        </p:nvPicPr>
        <p:blipFill>
          <a:blip r:embed="rId1"/>
          <a:stretch>
            <a:fillRect/>
          </a:stretch>
        </p:blipFill>
        <p:spPr>
          <a:xfrm>
            <a:off x="914400" y="2286000"/>
            <a:ext cx="502920" cy="502920"/>
          </a:xfrm>
          <a:prstGeom prst="rect">
            <a:avLst/>
          </a:prstGeom>
        </p:spPr>
      </p:pic>
      <p:sp>
        <p:nvSpPr>
          <p:cNvPr id="6" name="Text 3"/>
          <p:cNvSpPr/>
          <p:nvPr/>
        </p:nvSpPr>
        <p:spPr>
          <a:xfrm>
            <a:off x="914400" y="2880360"/>
            <a:ext cx="457200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Haiti, then the Caribbean</a:t>
            </a:r>
            <a:endParaRPr lang="en-US" sz="1700" dirty="0"/>
          </a:p>
        </p:txBody>
      </p:sp>
      <p:sp>
        <p:nvSpPr>
          <p:cNvPr id="7" name="Text 4"/>
          <p:cNvSpPr/>
          <p:nvPr/>
        </p:nvSpPr>
        <p:spPr>
          <a:xfrm>
            <a:off x="914400" y="3337560"/>
            <a:ext cx="4526280" cy="2377440"/>
          </a:xfrm>
          <a:prstGeom prst="rect">
            <a:avLst/>
          </a:prstGeom>
          <a:noFill/>
          <a:ln/>
        </p:spPr>
        <p:txBody>
          <a:bodyPr wrap="square" lIns="0" tIns="0" rIns="0" bIns="0" rtlCol="0" anchor="ctr"/>
          <a:lstStyle/>
          <a:p>
            <a:pPr indent="0" marL="0">
              <a:lnSpc>
                <a:spcPts val="1800"/>
              </a:lnSpc>
              <a:buNone/>
            </a:pPr>
            <a:r>
              <a:rPr lang="en-US" sz="1300" dirty="0">
                <a:solidFill>
                  <a:srgbClr val="D4D4D4"/>
                </a:solidFill>
                <a:latin typeface="Calibri" pitchFamily="34" charset="0"/>
                <a:ea typeface="Calibri" pitchFamily="34" charset="-122"/>
                <a:cs typeface="Calibri" pitchFamily="34" charset="-120"/>
              </a:rPr>
              <a:t>Haiti's large unbanked and underbanked population, combined with fast-growing mobile access and a significant diaspora remittance corridor, defines the initial addressable population. The roadmap's later phases explicitly test replicability across additional Caribbean markets — expansion follows validation, not the reverse.</a:t>
            </a:r>
            <a:endParaRPr lang="en-US" sz="1300" dirty="0"/>
          </a:p>
        </p:txBody>
      </p:sp>
      <p:sp>
        <p:nvSpPr>
          <p:cNvPr id="8" name="Text 5"/>
          <p:cNvSpPr/>
          <p:nvPr/>
        </p:nvSpPr>
        <p:spPr>
          <a:xfrm>
            <a:off x="6035040" y="2057400"/>
            <a:ext cx="5486400" cy="36576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Remittances</a:t>
            </a:r>
            <a:endParaRPr lang="en-US" sz="1500" dirty="0"/>
          </a:p>
        </p:txBody>
      </p:sp>
      <p:sp>
        <p:nvSpPr>
          <p:cNvPr id="9" name="Text 6"/>
          <p:cNvSpPr/>
          <p:nvPr/>
        </p:nvSpPr>
        <p:spPr>
          <a:xfrm>
            <a:off x="6035040" y="2441448"/>
            <a:ext cx="5486400" cy="77724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A meaningful share of household income in Haiti arrives from the diaspora — a direct use case for low-fee, stable-value digital payments.</a:t>
            </a:r>
            <a:endParaRPr lang="en-US" sz="1250" dirty="0"/>
          </a:p>
        </p:txBody>
      </p:sp>
      <p:sp>
        <p:nvSpPr>
          <p:cNvPr id="10" name="Text 7"/>
          <p:cNvSpPr/>
          <p:nvPr/>
        </p:nvSpPr>
        <p:spPr>
          <a:xfrm>
            <a:off x="6035040" y="3337560"/>
            <a:ext cx="5486400" cy="36576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Mobile-first</a:t>
            </a:r>
            <a:endParaRPr lang="en-US" sz="1500" dirty="0"/>
          </a:p>
        </p:txBody>
      </p:sp>
      <p:sp>
        <p:nvSpPr>
          <p:cNvPr id="11" name="Text 8"/>
          <p:cNvSpPr/>
          <p:nvPr/>
        </p:nvSpPr>
        <p:spPr>
          <a:xfrm>
            <a:off x="6035040" y="3721608"/>
            <a:ext cx="5486400" cy="77724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Celo's design and USDm's stability fit a population accessing finance primarily through a phone, not a bank branch.</a:t>
            </a:r>
            <a:endParaRPr lang="en-US" sz="1250" dirty="0"/>
          </a:p>
        </p:txBody>
      </p:sp>
      <p:sp>
        <p:nvSpPr>
          <p:cNvPr id="12" name="Text 9"/>
          <p:cNvSpPr/>
          <p:nvPr/>
        </p:nvSpPr>
        <p:spPr>
          <a:xfrm>
            <a:off x="6035040" y="4617720"/>
            <a:ext cx="5486400" cy="36576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Underserved, not unreachable</a:t>
            </a:r>
            <a:endParaRPr lang="en-US" sz="1500" dirty="0"/>
          </a:p>
        </p:txBody>
      </p:sp>
      <p:sp>
        <p:nvSpPr>
          <p:cNvPr id="13" name="Text 10"/>
          <p:cNvSpPr/>
          <p:nvPr/>
        </p:nvSpPr>
        <p:spPr>
          <a:xfrm>
            <a:off x="6035040" y="5001768"/>
            <a:ext cx="5486400" cy="77724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The barrier is trust and education, not the absence of demand — which is exactly what CeloHT's model is built to address.</a:t>
            </a:r>
            <a:endParaRPr lang="en-US" sz="1250" dirty="0"/>
          </a:p>
        </p:txBody>
      </p:sp>
      <p:sp>
        <p:nvSpPr>
          <p:cNvPr id="14" name="Text 1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5"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Education, human trust, and sustainability — as one system</a:t>
            </a:r>
            <a:endParaRPr lang="en-US" sz="3600" dirty="0"/>
          </a:p>
        </p:txBody>
      </p:sp>
      <p:pic>
        <p:nvPicPr>
          <p:cNvPr id="4" name="Image 0" descr="./icons/book_1B2A4A.png">    </p:cNvPr>
          <p:cNvPicPr>
            <a:picLocks noChangeAspect="1"/>
          </p:cNvPicPr>
          <p:nvPr/>
        </p:nvPicPr>
        <p:blipFill>
          <a:blip r:embed="rId1"/>
          <a:stretch>
            <a:fillRect/>
          </a:stretch>
        </p:blipFill>
        <p:spPr>
          <a:xfrm>
            <a:off x="914400" y="2103120"/>
            <a:ext cx="548640" cy="548640"/>
          </a:xfrm>
          <a:prstGeom prst="rect">
            <a:avLst/>
          </a:prstGeom>
        </p:spPr>
      </p:pic>
      <p:sp>
        <p:nvSpPr>
          <p:cNvPr id="5" name="Text 2"/>
          <p:cNvSpPr/>
          <p:nvPr/>
        </p:nvSpPr>
        <p:spPr>
          <a:xfrm>
            <a:off x="2880360" y="2148840"/>
            <a:ext cx="548640" cy="548640"/>
          </a:xfrm>
          <a:prstGeom prst="rect">
            <a:avLst/>
          </a:prstGeom>
          <a:noFill/>
          <a:ln/>
        </p:spPr>
        <p:txBody>
          <a:bodyPr wrap="square" rtlCol="0" anchor="ctr"/>
          <a:lstStyle/>
          <a:p>
            <a:pPr algn="ctr" indent="0" marL="0">
              <a:buNone/>
            </a:pPr>
            <a:r>
              <a:rPr lang="en-US" sz="2800" dirty="0">
                <a:solidFill>
                  <a:srgbClr val="F5A623"/>
                </a:solidFill>
                <a:latin typeface="Georgia" pitchFamily="34" charset="0"/>
                <a:ea typeface="Georgia" pitchFamily="34" charset="-122"/>
                <a:cs typeface="Georgia" pitchFamily="34" charset="-120"/>
              </a:rPr>
              <a:t>→</a:t>
            </a:r>
            <a:endParaRPr lang="en-US" sz="2800" dirty="0"/>
          </a:p>
        </p:txBody>
      </p:sp>
      <p:pic>
        <p:nvPicPr>
          <p:cNvPr id="6" name="Image 1" descr="./icons/agents_1B2A4A.png">    </p:cNvPr>
          <p:cNvPicPr>
            <a:picLocks noChangeAspect="1"/>
          </p:cNvPicPr>
          <p:nvPr/>
        </p:nvPicPr>
        <p:blipFill>
          <a:blip r:embed="rId2"/>
          <a:stretch>
            <a:fillRect/>
          </a:stretch>
        </p:blipFill>
        <p:spPr>
          <a:xfrm>
            <a:off x="4206240" y="2103120"/>
            <a:ext cx="548640" cy="548640"/>
          </a:xfrm>
          <a:prstGeom prst="rect">
            <a:avLst/>
          </a:prstGeom>
        </p:spPr>
      </p:pic>
      <p:sp>
        <p:nvSpPr>
          <p:cNvPr id="7" name="Text 3"/>
          <p:cNvSpPr/>
          <p:nvPr/>
        </p:nvSpPr>
        <p:spPr>
          <a:xfrm>
            <a:off x="6172200" y="2148840"/>
            <a:ext cx="548640" cy="548640"/>
          </a:xfrm>
          <a:prstGeom prst="rect">
            <a:avLst/>
          </a:prstGeom>
          <a:noFill/>
          <a:ln/>
        </p:spPr>
        <p:txBody>
          <a:bodyPr wrap="square" rtlCol="0" anchor="ctr"/>
          <a:lstStyle/>
          <a:p>
            <a:pPr algn="ctr" indent="0" marL="0">
              <a:buNone/>
            </a:pPr>
            <a:r>
              <a:rPr lang="en-US" sz="2800" dirty="0">
                <a:solidFill>
                  <a:srgbClr val="F5A623"/>
                </a:solidFill>
                <a:latin typeface="Georgia" pitchFamily="34" charset="0"/>
                <a:ea typeface="Georgia" pitchFamily="34" charset="-122"/>
                <a:cs typeface="Georgia" pitchFamily="34" charset="-120"/>
              </a:rPr>
              <a:t>→</a:t>
            </a:r>
            <a:endParaRPr lang="en-US" sz="2800" dirty="0"/>
          </a:p>
        </p:txBody>
      </p:sp>
      <p:pic>
        <p:nvPicPr>
          <p:cNvPr id="8" name="Image 2" descr="./icons/tree_1B2A4A.png">    </p:cNvPr>
          <p:cNvPicPr>
            <a:picLocks noChangeAspect="1"/>
          </p:cNvPicPr>
          <p:nvPr/>
        </p:nvPicPr>
        <p:blipFill>
          <a:blip r:embed="rId3"/>
          <a:stretch>
            <a:fillRect/>
          </a:stretch>
        </p:blipFill>
        <p:spPr>
          <a:xfrm>
            <a:off x="7498080" y="2103120"/>
            <a:ext cx="548640" cy="548640"/>
          </a:xfrm>
          <a:prstGeom prst="rect">
            <a:avLst/>
          </a:prstGeom>
        </p:spPr>
      </p:pic>
      <p:sp>
        <p:nvSpPr>
          <p:cNvPr id="9" name="Text 4"/>
          <p:cNvSpPr/>
          <p:nvPr/>
        </p:nvSpPr>
        <p:spPr>
          <a:xfrm>
            <a:off x="548640" y="2743200"/>
            <a:ext cx="1645920"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Learn it</a:t>
            </a:r>
            <a:endParaRPr lang="en-US" sz="1300" dirty="0"/>
          </a:p>
        </p:txBody>
      </p:sp>
      <p:sp>
        <p:nvSpPr>
          <p:cNvPr id="10" name="Text 5"/>
          <p:cNvSpPr/>
          <p:nvPr/>
        </p:nvSpPr>
        <p:spPr>
          <a:xfrm>
            <a:off x="3840480" y="2743200"/>
            <a:ext cx="1645920"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Trust it</a:t>
            </a:r>
            <a:endParaRPr lang="en-US" sz="1300" dirty="0"/>
          </a:p>
        </p:txBody>
      </p:sp>
      <p:sp>
        <p:nvSpPr>
          <p:cNvPr id="11" name="Text 6"/>
          <p:cNvSpPr/>
          <p:nvPr/>
        </p:nvSpPr>
        <p:spPr>
          <a:xfrm>
            <a:off x="7132320" y="2743200"/>
            <a:ext cx="1645920"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Sustain it</a:t>
            </a:r>
            <a:endParaRPr lang="en-US" sz="1300" dirty="0"/>
          </a:p>
        </p:txBody>
      </p:sp>
      <p:sp>
        <p:nvSpPr>
          <p:cNvPr id="12" name="Shape 7"/>
          <p:cNvSpPr/>
          <p:nvPr/>
        </p:nvSpPr>
        <p:spPr>
          <a:xfrm>
            <a:off x="640080" y="3429000"/>
            <a:ext cx="10881360" cy="0"/>
          </a:xfrm>
          <a:prstGeom prst="line">
            <a:avLst/>
          </a:prstGeom>
          <a:noFill/>
          <a:ln w="12700">
            <a:solidFill>
              <a:srgbClr val="D4D4D4"/>
            </a:solidFill>
            <a:prstDash val="solid"/>
          </a:ln>
        </p:spPr>
      </p:sp>
      <p:sp>
        <p:nvSpPr>
          <p:cNvPr id="13" name="Text 8"/>
          <p:cNvSpPr/>
          <p:nvPr/>
        </p:nvSpPr>
        <p:spPr>
          <a:xfrm>
            <a:off x="640080" y="3657600"/>
            <a:ext cx="3429000" cy="15544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 structured Haitian Creole curriculum — from basic budgeting to safe wallet use — completed before, not after, first use of any financial tool.</a:t>
            </a:r>
            <a:endParaRPr lang="en-US" sz="1250" dirty="0"/>
          </a:p>
        </p:txBody>
      </p:sp>
      <p:sp>
        <p:nvSpPr>
          <p:cNvPr id="14" name="Text 9"/>
          <p:cNvSpPr/>
          <p:nvPr/>
        </p:nvSpPr>
        <p:spPr>
          <a:xfrm>
            <a:off x="4343400" y="3657600"/>
            <a:ext cx="3429000" cy="15544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 network of trained, on-chain-verified local agents who handle cash-to-USDm conversion and answer questions an app alone never could.</a:t>
            </a:r>
            <a:endParaRPr lang="en-US" sz="1250" dirty="0"/>
          </a:p>
        </p:txBody>
      </p:sp>
      <p:sp>
        <p:nvSpPr>
          <p:cNvPr id="15" name="Text 10"/>
          <p:cNvSpPr/>
          <p:nvPr/>
        </p:nvSpPr>
        <p:spPr>
          <a:xfrm>
            <a:off x="8046720" y="3657600"/>
            <a:ext cx="3429000" cy="15544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 permanent reforestation program with verified survival tracking, ensuring the communities we serve aren't left worse off environmentally.</a:t>
            </a:r>
            <a:endParaRPr lang="en-US" sz="1250" dirty="0"/>
          </a:p>
        </p:txBody>
      </p:sp>
      <p:sp>
        <p:nvSpPr>
          <p:cNvPr id="16" name="Shape 11"/>
          <p:cNvSpPr/>
          <p:nvPr/>
        </p:nvSpPr>
        <p:spPr>
          <a:xfrm>
            <a:off x="640080" y="5486400"/>
            <a:ext cx="10881360" cy="777240"/>
          </a:xfrm>
          <a:prstGeom prst="roundRect">
            <a:avLst>
              <a:gd name="adj" fmla="val 11765"/>
            </a:avLst>
          </a:prstGeom>
          <a:solidFill>
            <a:srgbClr val="FAF9F6"/>
          </a:solidFill>
          <a:ln/>
        </p:spPr>
      </p:sp>
      <p:sp>
        <p:nvSpPr>
          <p:cNvPr id="17" name="Text 12"/>
          <p:cNvSpPr/>
          <p:nvPr/>
        </p:nvSpPr>
        <p:spPr>
          <a:xfrm>
            <a:off x="914400" y="5623560"/>
            <a:ext cx="10332720" cy="502920"/>
          </a:xfrm>
          <a:prstGeom prst="rect">
            <a:avLst/>
          </a:prstGeom>
          <a:noFill/>
          <a:ln/>
        </p:spPr>
        <p:txBody>
          <a:bodyPr wrap="square" lIns="0" tIns="0" rIns="0" bIns="0" rtlCol="0" anchor="ctr"/>
          <a:lstStyle/>
          <a:p>
            <a:pPr indent="0" marL="0">
              <a:buNone/>
            </a:pPr>
            <a:r>
              <a:rPr lang="en-US" sz="1300" i="1" dirty="0">
                <a:solidFill>
                  <a:srgbClr val="1B2A4A"/>
                </a:solidFill>
                <a:latin typeface="Calibri" pitchFamily="34" charset="0"/>
                <a:ea typeface="Calibri" pitchFamily="34" charset="-122"/>
                <a:cs typeface="Calibri" pitchFamily="34" charset="-120"/>
              </a:rPr>
              <a:t>Every pillar is permanent and independently resourced — not a marketing feature layered onto a financial product.</a:t>
            </a:r>
            <a:endParaRPr lang="en-US" sz="1300" dirty="0"/>
          </a:p>
        </p:txBody>
      </p:sp>
      <p:sp>
        <p:nvSpPr>
          <p:cNvPr id="18" name="Text 1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ECOSYSTEM OVERVIEW</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How the pieces fit together</a:t>
            </a:r>
            <a:endParaRPr lang="en-US" sz="3600" dirty="0"/>
          </a:p>
        </p:txBody>
      </p:sp>
      <p:sp>
        <p:nvSpPr>
          <p:cNvPr id="4" name="Shape 2"/>
          <p:cNvSpPr/>
          <p:nvPr/>
        </p:nvSpPr>
        <p:spPr>
          <a:xfrm>
            <a:off x="640080" y="2011680"/>
            <a:ext cx="10881360" cy="868680"/>
          </a:xfrm>
          <a:prstGeom prst="roundRect">
            <a:avLst>
              <a:gd name="adj" fmla="val 8421"/>
            </a:avLst>
          </a:prstGeom>
          <a:solidFill>
            <a:srgbClr val="FFFFFF"/>
          </a:solidFill>
          <a:ln/>
        </p:spPr>
      </p:sp>
      <p:pic>
        <p:nvPicPr>
          <p:cNvPr id="5" name="Image 0" descr="./icons/governance_F5A623.png">    </p:cNvPr>
          <p:cNvPicPr>
            <a:picLocks noChangeAspect="1"/>
          </p:cNvPicPr>
          <p:nvPr/>
        </p:nvPicPr>
        <p:blipFill>
          <a:blip r:embed="rId1"/>
          <a:stretch>
            <a:fillRect/>
          </a:stretch>
        </p:blipFill>
        <p:spPr>
          <a:xfrm>
            <a:off x="914400" y="2194560"/>
            <a:ext cx="457200" cy="457200"/>
          </a:xfrm>
          <a:prstGeom prst="rect">
            <a:avLst/>
          </a:prstGeom>
        </p:spPr>
      </p:pic>
      <p:sp>
        <p:nvSpPr>
          <p:cNvPr id="6" name="Text 3"/>
          <p:cNvSpPr/>
          <p:nvPr/>
        </p:nvSpPr>
        <p:spPr>
          <a:xfrm>
            <a:off x="1600200" y="210312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Community &amp; Governance</a:t>
            </a:r>
            <a:endParaRPr lang="en-US" sz="1500" dirty="0"/>
          </a:p>
        </p:txBody>
      </p:sp>
      <p:sp>
        <p:nvSpPr>
          <p:cNvPr id="7" name="Text 4"/>
          <p:cNvSpPr/>
          <p:nvPr/>
        </p:nvSpPr>
        <p:spPr>
          <a:xfrm>
            <a:off x="5029200" y="210312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Foundation Director → Maintainer Council → Community Contributors</a:t>
            </a:r>
            <a:endParaRPr lang="en-US" sz="1250" dirty="0"/>
          </a:p>
        </p:txBody>
      </p:sp>
      <p:sp>
        <p:nvSpPr>
          <p:cNvPr id="8" name="Shape 5"/>
          <p:cNvSpPr/>
          <p:nvPr/>
        </p:nvSpPr>
        <p:spPr>
          <a:xfrm>
            <a:off x="640080" y="3063240"/>
            <a:ext cx="10881360" cy="868680"/>
          </a:xfrm>
          <a:prstGeom prst="roundRect">
            <a:avLst>
              <a:gd name="adj" fmla="val 8421"/>
            </a:avLst>
          </a:prstGeom>
          <a:solidFill>
            <a:srgbClr val="FFFFFF"/>
          </a:solidFill>
          <a:ln/>
        </p:spPr>
      </p:sp>
      <p:pic>
        <p:nvPicPr>
          <p:cNvPr id="9" name="Image 1" descr="./icons/users_F5A623.png">    </p:cNvPr>
          <p:cNvPicPr>
            <a:picLocks noChangeAspect="1"/>
          </p:cNvPicPr>
          <p:nvPr/>
        </p:nvPicPr>
        <p:blipFill>
          <a:blip r:embed="rId2"/>
          <a:stretch>
            <a:fillRect/>
          </a:stretch>
        </p:blipFill>
        <p:spPr>
          <a:xfrm>
            <a:off x="914400" y="3246120"/>
            <a:ext cx="457200" cy="457200"/>
          </a:xfrm>
          <a:prstGeom prst="rect">
            <a:avLst/>
          </a:prstGeom>
        </p:spPr>
      </p:pic>
      <p:sp>
        <p:nvSpPr>
          <p:cNvPr id="10" name="Text 6"/>
          <p:cNvSpPr/>
          <p:nvPr/>
        </p:nvSpPr>
        <p:spPr>
          <a:xfrm>
            <a:off x="1600200" y="315468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Programs</a:t>
            </a:r>
            <a:endParaRPr lang="en-US" sz="1500" dirty="0"/>
          </a:p>
        </p:txBody>
      </p:sp>
      <p:sp>
        <p:nvSpPr>
          <p:cNvPr id="11" name="Text 7"/>
          <p:cNvSpPr/>
          <p:nvPr/>
        </p:nvSpPr>
        <p:spPr>
          <a:xfrm>
            <a:off x="5029200" y="315468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Education · Agent Network · Reforestation</a:t>
            </a:r>
            <a:endParaRPr lang="en-US" sz="1250" dirty="0"/>
          </a:p>
        </p:txBody>
      </p:sp>
      <p:sp>
        <p:nvSpPr>
          <p:cNvPr id="12" name="Shape 8"/>
          <p:cNvSpPr/>
          <p:nvPr/>
        </p:nvSpPr>
        <p:spPr>
          <a:xfrm>
            <a:off x="640080" y="4114800"/>
            <a:ext cx="10881360" cy="868680"/>
          </a:xfrm>
          <a:prstGeom prst="roundRect">
            <a:avLst>
              <a:gd name="adj" fmla="val 8421"/>
            </a:avLst>
          </a:prstGeom>
          <a:solidFill>
            <a:srgbClr val="FFFFFF"/>
          </a:solidFill>
          <a:ln/>
        </p:spPr>
      </p:sp>
      <p:pic>
        <p:nvPicPr>
          <p:cNvPr id="13" name="Image 2" descr="./icons/code_F5A623.png">    </p:cNvPr>
          <p:cNvPicPr>
            <a:picLocks noChangeAspect="1"/>
          </p:cNvPicPr>
          <p:nvPr/>
        </p:nvPicPr>
        <p:blipFill>
          <a:blip r:embed="rId3"/>
          <a:stretch>
            <a:fillRect/>
          </a:stretch>
        </p:blipFill>
        <p:spPr>
          <a:xfrm>
            <a:off x="914400" y="4297680"/>
            <a:ext cx="457200" cy="457200"/>
          </a:xfrm>
          <a:prstGeom prst="rect">
            <a:avLst/>
          </a:prstGeom>
        </p:spPr>
      </p:pic>
      <p:sp>
        <p:nvSpPr>
          <p:cNvPr id="14" name="Text 9"/>
          <p:cNvSpPr/>
          <p:nvPr/>
        </p:nvSpPr>
        <p:spPr>
          <a:xfrm>
            <a:off x="1600200" y="420624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Application Layer</a:t>
            </a:r>
            <a:endParaRPr lang="en-US" sz="1500" dirty="0"/>
          </a:p>
        </p:txBody>
      </p:sp>
      <p:sp>
        <p:nvSpPr>
          <p:cNvPr id="15" name="Text 10"/>
          <p:cNvSpPr/>
          <p:nvPr/>
        </p:nvSpPr>
        <p:spPr>
          <a:xfrm>
            <a:off x="5029200" y="420624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Official website (public information) · Official dApp (wallet, education, agent tools)</a:t>
            </a:r>
            <a:endParaRPr lang="en-US" sz="1250" dirty="0"/>
          </a:p>
        </p:txBody>
      </p:sp>
      <p:sp>
        <p:nvSpPr>
          <p:cNvPr id="16" name="Shape 11"/>
          <p:cNvSpPr/>
          <p:nvPr/>
        </p:nvSpPr>
        <p:spPr>
          <a:xfrm>
            <a:off x="640080" y="5166360"/>
            <a:ext cx="10881360" cy="868680"/>
          </a:xfrm>
          <a:prstGeom prst="roundRect">
            <a:avLst>
              <a:gd name="adj" fmla="val 8421"/>
            </a:avLst>
          </a:prstGeom>
          <a:solidFill>
            <a:srgbClr val="FFFFFF"/>
          </a:solidFill>
          <a:ln/>
        </p:spPr>
      </p:sp>
      <p:pic>
        <p:nvPicPr>
          <p:cNvPr id="17" name="Image 3" descr="./icons/network_F5A623.png">    </p:cNvPr>
          <p:cNvPicPr>
            <a:picLocks noChangeAspect="1"/>
          </p:cNvPicPr>
          <p:nvPr/>
        </p:nvPicPr>
        <p:blipFill>
          <a:blip r:embed="rId4"/>
          <a:stretch>
            <a:fillRect/>
          </a:stretch>
        </p:blipFill>
        <p:spPr>
          <a:xfrm>
            <a:off x="914400" y="5349240"/>
            <a:ext cx="457200" cy="457200"/>
          </a:xfrm>
          <a:prstGeom prst="rect">
            <a:avLst/>
          </a:prstGeom>
        </p:spPr>
      </p:pic>
      <p:sp>
        <p:nvSpPr>
          <p:cNvPr id="18" name="Text 12"/>
          <p:cNvSpPr/>
          <p:nvPr/>
        </p:nvSpPr>
        <p:spPr>
          <a:xfrm>
            <a:off x="1600200" y="525780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Infrastructure</a:t>
            </a:r>
            <a:endParaRPr lang="en-US" sz="1500" dirty="0"/>
          </a:p>
        </p:txBody>
      </p:sp>
      <p:sp>
        <p:nvSpPr>
          <p:cNvPr id="19" name="Text 13"/>
          <p:cNvSpPr/>
          <p:nvPr/>
        </p:nvSpPr>
        <p:spPr>
          <a:xfrm>
            <a:off x="5029200" y="525780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Celo blockchain · USDm (payments) · CELO (gas) · Valora (wallet)</a:t>
            </a:r>
            <a:endParaRPr lang="en-US" sz="1250" dirty="0"/>
          </a:p>
        </p:txBody>
      </p:sp>
      <p:sp>
        <p:nvSpPr>
          <p:cNvPr id="20"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1"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PRODUCTS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Two digital products, one shared mission</a:t>
            </a:r>
            <a:endParaRPr lang="en-US" sz="3600" dirty="0"/>
          </a:p>
        </p:txBody>
      </p:sp>
      <p:sp>
        <p:nvSpPr>
          <p:cNvPr id="4" name="Shape 2"/>
          <p:cNvSpPr/>
          <p:nvPr/>
        </p:nvSpPr>
        <p:spPr>
          <a:xfrm>
            <a:off x="640080" y="2011680"/>
            <a:ext cx="5212080" cy="3931920"/>
          </a:xfrm>
          <a:prstGeom prst="roundRect">
            <a:avLst>
              <a:gd name="adj" fmla="val 2326"/>
            </a:avLst>
          </a:prstGeom>
          <a:solidFill>
            <a:srgbClr val="1B2A4A"/>
          </a:solidFill>
          <a:ln/>
        </p:spPr>
      </p:sp>
      <p:sp>
        <p:nvSpPr>
          <p:cNvPr id="5" name="Text 3"/>
          <p:cNvSpPr/>
          <p:nvPr/>
        </p:nvSpPr>
        <p:spPr>
          <a:xfrm>
            <a:off x="1005840" y="2286000"/>
            <a:ext cx="457200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Official Website</a:t>
            </a:r>
            <a:endParaRPr lang="en-US" sz="2000" dirty="0"/>
          </a:p>
        </p:txBody>
      </p:sp>
      <p:sp>
        <p:nvSpPr>
          <p:cNvPr id="6" name="Text 4"/>
          <p:cNvSpPr/>
          <p:nvPr/>
        </p:nvSpPr>
        <p:spPr>
          <a:xfrm>
            <a:off x="1005840" y="2788920"/>
            <a:ext cx="4572000" cy="320040"/>
          </a:xfrm>
          <a:prstGeom prst="rect">
            <a:avLst/>
          </a:prstGeom>
          <a:noFill/>
          <a:ln/>
        </p:spPr>
        <p:txBody>
          <a:bodyPr wrap="square" lIns="0" tIns="0" rIns="0" bIns="0" rtlCol="0" anchor="ctr"/>
          <a:lstStyle/>
          <a:p>
            <a:pPr indent="0" marL="0">
              <a:buNone/>
            </a:pPr>
            <a:r>
              <a:rPr lang="en-US" sz="1300" i="1" dirty="0">
                <a:solidFill>
                  <a:srgbClr val="F5A623"/>
                </a:solidFill>
                <a:latin typeface="Calibri" pitchFamily="34" charset="0"/>
                <a:ea typeface="Calibri" pitchFamily="34" charset="-122"/>
                <a:cs typeface="Calibri" pitchFamily="34" charset="-120"/>
              </a:rPr>
              <a:t>Public information platform</a:t>
            </a:r>
            <a:endParaRPr lang="en-US" sz="1300" dirty="0"/>
          </a:p>
        </p:txBody>
      </p:sp>
      <p:pic>
        <p:nvPicPr>
          <p:cNvPr id="7" name="Image 0" descr="./icons/check_F5A623.png">    </p:cNvPr>
          <p:cNvPicPr>
            <a:picLocks noChangeAspect="1"/>
          </p:cNvPicPr>
          <p:nvPr/>
        </p:nvPicPr>
        <p:blipFill>
          <a:blip r:embed="rId1"/>
          <a:stretch>
            <a:fillRect/>
          </a:stretch>
        </p:blipFill>
        <p:spPr>
          <a:xfrm>
            <a:off x="1005840" y="3337560"/>
            <a:ext cx="292608" cy="292608"/>
          </a:xfrm>
          <a:prstGeom prst="rect">
            <a:avLst/>
          </a:prstGeom>
        </p:spPr>
      </p:pic>
      <p:sp>
        <p:nvSpPr>
          <p:cNvPr id="8" name="Text 5"/>
          <p:cNvSpPr/>
          <p:nvPr/>
        </p:nvSpPr>
        <p:spPr>
          <a:xfrm>
            <a:off x="1417320" y="3291840"/>
            <a:ext cx="4114800" cy="54864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Explains the mission to newcomers</a:t>
            </a:r>
            <a:endParaRPr lang="en-US" sz="1300" dirty="0"/>
          </a:p>
        </p:txBody>
      </p:sp>
      <p:pic>
        <p:nvPicPr>
          <p:cNvPr id="9" name="Image 1" descr="./icons/check_F5A623.png">    </p:cNvPr>
          <p:cNvPicPr>
            <a:picLocks noChangeAspect="1"/>
          </p:cNvPicPr>
          <p:nvPr/>
        </p:nvPicPr>
        <p:blipFill>
          <a:blip r:embed="rId2"/>
          <a:stretch>
            <a:fillRect/>
          </a:stretch>
        </p:blipFill>
        <p:spPr>
          <a:xfrm>
            <a:off x="1005840" y="3977640"/>
            <a:ext cx="292608" cy="292608"/>
          </a:xfrm>
          <a:prstGeom prst="rect">
            <a:avLst/>
          </a:prstGeom>
        </p:spPr>
      </p:pic>
      <p:sp>
        <p:nvSpPr>
          <p:cNvPr id="10" name="Text 6"/>
          <p:cNvSpPr/>
          <p:nvPr/>
        </p:nvSpPr>
        <p:spPr>
          <a:xfrm>
            <a:off x="1417320" y="3931920"/>
            <a:ext cx="4114800" cy="54864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Publishes impact reporting and metrics</a:t>
            </a:r>
            <a:endParaRPr lang="en-US" sz="1300" dirty="0"/>
          </a:p>
        </p:txBody>
      </p:sp>
      <p:pic>
        <p:nvPicPr>
          <p:cNvPr id="11" name="Image 2" descr="./icons/check_F5A623.png">    </p:cNvPr>
          <p:cNvPicPr>
            <a:picLocks noChangeAspect="1"/>
          </p:cNvPicPr>
          <p:nvPr/>
        </p:nvPicPr>
        <p:blipFill>
          <a:blip r:embed="rId3"/>
          <a:stretch>
            <a:fillRect/>
          </a:stretch>
        </p:blipFill>
        <p:spPr>
          <a:xfrm>
            <a:off x="1005840" y="4617720"/>
            <a:ext cx="292608" cy="292608"/>
          </a:xfrm>
          <a:prstGeom prst="rect">
            <a:avLst/>
          </a:prstGeom>
        </p:spPr>
      </p:pic>
      <p:sp>
        <p:nvSpPr>
          <p:cNvPr id="12" name="Text 7"/>
          <p:cNvSpPr/>
          <p:nvPr/>
        </p:nvSpPr>
        <p:spPr>
          <a:xfrm>
            <a:off x="1417320" y="4572000"/>
            <a:ext cx="4114800" cy="54864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Connects visitors to the dApp and partnerships</a:t>
            </a:r>
            <a:endParaRPr lang="en-US" sz="1300" dirty="0"/>
          </a:p>
        </p:txBody>
      </p:sp>
      <p:sp>
        <p:nvSpPr>
          <p:cNvPr id="13" name="Shape 8"/>
          <p:cNvSpPr/>
          <p:nvPr/>
        </p:nvSpPr>
        <p:spPr>
          <a:xfrm>
            <a:off x="6217920" y="2011680"/>
            <a:ext cx="5212080" cy="3931920"/>
          </a:xfrm>
          <a:prstGeom prst="roundRect">
            <a:avLst>
              <a:gd name="adj" fmla="val 2326"/>
            </a:avLst>
          </a:prstGeom>
          <a:solidFill>
            <a:srgbClr val="FAF9F6"/>
          </a:solidFill>
          <a:ln/>
        </p:spPr>
      </p:sp>
      <p:sp>
        <p:nvSpPr>
          <p:cNvPr id="14" name="Text 9"/>
          <p:cNvSpPr/>
          <p:nvPr/>
        </p:nvSpPr>
        <p:spPr>
          <a:xfrm>
            <a:off x="6583680" y="2286000"/>
            <a:ext cx="4572000" cy="457200"/>
          </a:xfrm>
          <a:prstGeom prst="rect">
            <a:avLst/>
          </a:prstGeom>
          <a:noFill/>
          <a:ln/>
        </p:spPr>
        <p:txBody>
          <a:bodyPr wrap="square" lIns="0" tIns="0" rIns="0" bIns="0" rtlCol="0" anchor="ctr"/>
          <a:lstStyle/>
          <a:p>
            <a:pPr indent="0" marL="0">
              <a:buNone/>
            </a:pPr>
            <a:r>
              <a:rPr lang="en-US" sz="2000" b="1" dirty="0">
                <a:solidFill>
                  <a:srgbClr val="1B2A4A"/>
                </a:solidFill>
                <a:latin typeface="Georgia" pitchFamily="34" charset="0"/>
                <a:ea typeface="Georgia" pitchFamily="34" charset="-122"/>
                <a:cs typeface="Georgia" pitchFamily="34" charset="-120"/>
              </a:rPr>
              <a:t>Official dApp</a:t>
            </a:r>
            <a:endParaRPr lang="en-US" sz="2000" dirty="0"/>
          </a:p>
        </p:txBody>
      </p:sp>
      <p:sp>
        <p:nvSpPr>
          <p:cNvPr id="15" name="Text 10"/>
          <p:cNvSpPr/>
          <p:nvPr/>
        </p:nvSpPr>
        <p:spPr>
          <a:xfrm>
            <a:off x="6583680" y="2788920"/>
            <a:ext cx="4572000" cy="32004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Operational platform</a:t>
            </a:r>
            <a:endParaRPr lang="en-US" sz="1300" dirty="0"/>
          </a:p>
        </p:txBody>
      </p:sp>
      <p:pic>
        <p:nvPicPr>
          <p:cNvPr id="16" name="Image 3" descr="./icons/check_1B2A4A.png">    </p:cNvPr>
          <p:cNvPicPr>
            <a:picLocks noChangeAspect="1"/>
          </p:cNvPicPr>
          <p:nvPr/>
        </p:nvPicPr>
        <p:blipFill>
          <a:blip r:embed="rId4"/>
          <a:stretch>
            <a:fillRect/>
          </a:stretch>
        </p:blipFill>
        <p:spPr>
          <a:xfrm>
            <a:off x="6583680" y="3337560"/>
            <a:ext cx="292608" cy="292608"/>
          </a:xfrm>
          <a:prstGeom prst="rect">
            <a:avLst/>
          </a:prstGeom>
        </p:spPr>
      </p:pic>
      <p:sp>
        <p:nvSpPr>
          <p:cNvPr id="17" name="Text 11"/>
          <p:cNvSpPr/>
          <p:nvPr/>
        </p:nvSpPr>
        <p:spPr>
          <a:xfrm>
            <a:off x="6995160" y="3291840"/>
            <a:ext cx="4114800" cy="5486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Valora wallet connection</a:t>
            </a:r>
            <a:endParaRPr lang="en-US" sz="1300" dirty="0"/>
          </a:p>
        </p:txBody>
      </p:sp>
      <p:pic>
        <p:nvPicPr>
          <p:cNvPr id="18" name="Image 4" descr="./icons/check_1B2A4A.png">    </p:cNvPr>
          <p:cNvPicPr>
            <a:picLocks noChangeAspect="1"/>
          </p:cNvPicPr>
          <p:nvPr/>
        </p:nvPicPr>
        <p:blipFill>
          <a:blip r:embed="rId5"/>
          <a:stretch>
            <a:fillRect/>
          </a:stretch>
        </p:blipFill>
        <p:spPr>
          <a:xfrm>
            <a:off x="6583680" y="3977640"/>
            <a:ext cx="292608" cy="292608"/>
          </a:xfrm>
          <a:prstGeom prst="rect">
            <a:avLst/>
          </a:prstGeom>
        </p:spPr>
      </p:pic>
      <p:sp>
        <p:nvSpPr>
          <p:cNvPr id="19" name="Text 12"/>
          <p:cNvSpPr/>
          <p:nvPr/>
        </p:nvSpPr>
        <p:spPr>
          <a:xfrm>
            <a:off x="6995160" y="3931920"/>
            <a:ext cx="4114800" cy="5486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Education modules and progress tracking</a:t>
            </a:r>
            <a:endParaRPr lang="en-US" sz="1300" dirty="0"/>
          </a:p>
        </p:txBody>
      </p:sp>
      <p:pic>
        <p:nvPicPr>
          <p:cNvPr id="20" name="Image 5" descr="./icons/check_1B2A4A.png">    </p:cNvPr>
          <p:cNvPicPr>
            <a:picLocks noChangeAspect="1"/>
          </p:cNvPicPr>
          <p:nvPr/>
        </p:nvPicPr>
        <p:blipFill>
          <a:blip r:embed="rId6"/>
          <a:stretch>
            <a:fillRect/>
          </a:stretch>
        </p:blipFill>
        <p:spPr>
          <a:xfrm>
            <a:off x="6583680" y="4617720"/>
            <a:ext cx="292608" cy="292608"/>
          </a:xfrm>
          <a:prstGeom prst="rect">
            <a:avLst/>
          </a:prstGeom>
        </p:spPr>
      </p:pic>
      <p:sp>
        <p:nvSpPr>
          <p:cNvPr id="21" name="Text 13"/>
          <p:cNvSpPr/>
          <p:nvPr/>
        </p:nvSpPr>
        <p:spPr>
          <a:xfrm>
            <a:off x="6995160" y="4572000"/>
            <a:ext cx="4114800" cy="5486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Agent Network directory and dashboards</a:t>
            </a:r>
            <a:endParaRPr lang="en-US" sz="1300" dirty="0"/>
          </a:p>
        </p:txBody>
      </p:sp>
      <p:sp>
        <p:nvSpPr>
          <p:cNvPr id="22"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3"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TECHNOLOGY STACK</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Built on proven, mobile-first infrastructure</a:t>
            </a:r>
            <a:endParaRPr lang="en-US" sz="3600" dirty="0"/>
          </a:p>
        </p:txBody>
      </p:sp>
      <p:sp>
        <p:nvSpPr>
          <p:cNvPr id="4" name="Shape 2"/>
          <p:cNvSpPr/>
          <p:nvPr/>
        </p:nvSpPr>
        <p:spPr>
          <a:xfrm>
            <a:off x="640080" y="2103120"/>
            <a:ext cx="2514600" cy="1463040"/>
          </a:xfrm>
          <a:prstGeom prst="roundRect">
            <a:avLst>
              <a:gd name="adj" fmla="val 6250"/>
            </a:avLst>
          </a:prstGeom>
          <a:solidFill>
            <a:srgbClr val="FAF9F6"/>
          </a:solidFill>
          <a:ln/>
        </p:spPr>
      </p:sp>
      <p:sp>
        <p:nvSpPr>
          <p:cNvPr id="5" name="Text 3"/>
          <p:cNvSpPr/>
          <p:nvPr/>
        </p:nvSpPr>
        <p:spPr>
          <a:xfrm>
            <a:off x="82296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BLOCKCHAIN</a:t>
            </a:r>
            <a:endParaRPr lang="en-US" sz="1050" dirty="0"/>
          </a:p>
        </p:txBody>
      </p:sp>
      <p:sp>
        <p:nvSpPr>
          <p:cNvPr id="6" name="Text 4"/>
          <p:cNvSpPr/>
          <p:nvPr/>
        </p:nvSpPr>
        <p:spPr>
          <a:xfrm>
            <a:off x="82296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Celo</a:t>
            </a:r>
            <a:endParaRPr lang="en-US" sz="1500" dirty="0"/>
          </a:p>
        </p:txBody>
      </p:sp>
      <p:sp>
        <p:nvSpPr>
          <p:cNvPr id="7" name="Shape 5"/>
          <p:cNvSpPr/>
          <p:nvPr/>
        </p:nvSpPr>
        <p:spPr>
          <a:xfrm>
            <a:off x="3337560" y="2103120"/>
            <a:ext cx="2514600" cy="1463040"/>
          </a:xfrm>
          <a:prstGeom prst="roundRect">
            <a:avLst>
              <a:gd name="adj" fmla="val 6250"/>
            </a:avLst>
          </a:prstGeom>
          <a:solidFill>
            <a:srgbClr val="FAF9F6"/>
          </a:solidFill>
          <a:ln/>
        </p:spPr>
      </p:sp>
      <p:sp>
        <p:nvSpPr>
          <p:cNvPr id="8" name="Text 6"/>
          <p:cNvSpPr/>
          <p:nvPr/>
        </p:nvSpPr>
        <p:spPr>
          <a:xfrm>
            <a:off x="352044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PAYMENT ASSET</a:t>
            </a:r>
            <a:endParaRPr lang="en-US" sz="1050" dirty="0"/>
          </a:p>
        </p:txBody>
      </p:sp>
      <p:sp>
        <p:nvSpPr>
          <p:cNvPr id="9" name="Text 7"/>
          <p:cNvSpPr/>
          <p:nvPr/>
        </p:nvSpPr>
        <p:spPr>
          <a:xfrm>
            <a:off x="352044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USDm</a:t>
            </a:r>
            <a:endParaRPr lang="en-US" sz="1500" dirty="0"/>
          </a:p>
        </p:txBody>
      </p:sp>
      <p:sp>
        <p:nvSpPr>
          <p:cNvPr id="10" name="Shape 8"/>
          <p:cNvSpPr/>
          <p:nvPr/>
        </p:nvSpPr>
        <p:spPr>
          <a:xfrm>
            <a:off x="6035040" y="2103120"/>
            <a:ext cx="2514600" cy="1463040"/>
          </a:xfrm>
          <a:prstGeom prst="roundRect">
            <a:avLst>
              <a:gd name="adj" fmla="val 6250"/>
            </a:avLst>
          </a:prstGeom>
          <a:solidFill>
            <a:srgbClr val="FAF9F6"/>
          </a:solidFill>
          <a:ln/>
        </p:spPr>
      </p:sp>
      <p:sp>
        <p:nvSpPr>
          <p:cNvPr id="11" name="Text 9"/>
          <p:cNvSpPr/>
          <p:nvPr/>
        </p:nvSpPr>
        <p:spPr>
          <a:xfrm>
            <a:off x="621792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GAS ASSET</a:t>
            </a:r>
            <a:endParaRPr lang="en-US" sz="1050" dirty="0"/>
          </a:p>
        </p:txBody>
      </p:sp>
      <p:sp>
        <p:nvSpPr>
          <p:cNvPr id="12" name="Text 10"/>
          <p:cNvSpPr/>
          <p:nvPr/>
        </p:nvSpPr>
        <p:spPr>
          <a:xfrm>
            <a:off x="621792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CELO</a:t>
            </a:r>
            <a:endParaRPr lang="en-US" sz="1500" dirty="0"/>
          </a:p>
        </p:txBody>
      </p:sp>
      <p:sp>
        <p:nvSpPr>
          <p:cNvPr id="13" name="Shape 11"/>
          <p:cNvSpPr/>
          <p:nvPr/>
        </p:nvSpPr>
        <p:spPr>
          <a:xfrm>
            <a:off x="8732520" y="2103120"/>
            <a:ext cx="2514600" cy="1463040"/>
          </a:xfrm>
          <a:prstGeom prst="roundRect">
            <a:avLst>
              <a:gd name="adj" fmla="val 6250"/>
            </a:avLst>
          </a:prstGeom>
          <a:solidFill>
            <a:srgbClr val="FAF9F6"/>
          </a:solidFill>
          <a:ln/>
        </p:spPr>
      </p:sp>
      <p:sp>
        <p:nvSpPr>
          <p:cNvPr id="14" name="Text 12"/>
          <p:cNvSpPr/>
          <p:nvPr/>
        </p:nvSpPr>
        <p:spPr>
          <a:xfrm>
            <a:off x="891540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WALLET</a:t>
            </a:r>
            <a:endParaRPr lang="en-US" sz="1050" dirty="0"/>
          </a:p>
        </p:txBody>
      </p:sp>
      <p:sp>
        <p:nvSpPr>
          <p:cNvPr id="15" name="Text 13"/>
          <p:cNvSpPr/>
          <p:nvPr/>
        </p:nvSpPr>
        <p:spPr>
          <a:xfrm>
            <a:off x="891540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Valora</a:t>
            </a:r>
            <a:endParaRPr lang="en-US" sz="1500" dirty="0"/>
          </a:p>
        </p:txBody>
      </p:sp>
      <p:sp>
        <p:nvSpPr>
          <p:cNvPr id="16" name="Shape 14"/>
          <p:cNvSpPr/>
          <p:nvPr/>
        </p:nvSpPr>
        <p:spPr>
          <a:xfrm>
            <a:off x="640080" y="3840480"/>
            <a:ext cx="2514600" cy="1463040"/>
          </a:xfrm>
          <a:prstGeom prst="roundRect">
            <a:avLst>
              <a:gd name="adj" fmla="val 6250"/>
            </a:avLst>
          </a:prstGeom>
          <a:solidFill>
            <a:srgbClr val="FAF9F6"/>
          </a:solidFill>
          <a:ln/>
        </p:spPr>
      </p:sp>
      <p:sp>
        <p:nvSpPr>
          <p:cNvPr id="17" name="Text 15"/>
          <p:cNvSpPr/>
          <p:nvPr/>
        </p:nvSpPr>
        <p:spPr>
          <a:xfrm>
            <a:off x="82296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SMART CONTRACTS</a:t>
            </a:r>
            <a:endParaRPr lang="en-US" sz="1050" dirty="0"/>
          </a:p>
        </p:txBody>
      </p:sp>
      <p:sp>
        <p:nvSpPr>
          <p:cNvPr id="18" name="Text 16"/>
          <p:cNvSpPr/>
          <p:nvPr/>
        </p:nvSpPr>
        <p:spPr>
          <a:xfrm>
            <a:off x="82296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Solidity + Hardhat</a:t>
            </a:r>
            <a:endParaRPr lang="en-US" sz="1500" dirty="0"/>
          </a:p>
        </p:txBody>
      </p:sp>
      <p:sp>
        <p:nvSpPr>
          <p:cNvPr id="19" name="Shape 17"/>
          <p:cNvSpPr/>
          <p:nvPr/>
        </p:nvSpPr>
        <p:spPr>
          <a:xfrm>
            <a:off x="3337560" y="3840480"/>
            <a:ext cx="2514600" cy="1463040"/>
          </a:xfrm>
          <a:prstGeom prst="roundRect">
            <a:avLst>
              <a:gd name="adj" fmla="val 6250"/>
            </a:avLst>
          </a:prstGeom>
          <a:solidFill>
            <a:srgbClr val="FAF9F6"/>
          </a:solidFill>
          <a:ln/>
        </p:spPr>
      </p:sp>
      <p:sp>
        <p:nvSpPr>
          <p:cNvPr id="20" name="Text 18"/>
          <p:cNvSpPr/>
          <p:nvPr/>
        </p:nvSpPr>
        <p:spPr>
          <a:xfrm>
            <a:off x="352044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FRONTEND</a:t>
            </a:r>
            <a:endParaRPr lang="en-US" sz="1050" dirty="0"/>
          </a:p>
        </p:txBody>
      </p:sp>
      <p:sp>
        <p:nvSpPr>
          <p:cNvPr id="21" name="Text 19"/>
          <p:cNvSpPr/>
          <p:nvPr/>
        </p:nvSpPr>
        <p:spPr>
          <a:xfrm>
            <a:off x="352044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Next.js · React · TypeScript</a:t>
            </a:r>
            <a:endParaRPr lang="en-US" sz="1500" dirty="0"/>
          </a:p>
        </p:txBody>
      </p:sp>
      <p:sp>
        <p:nvSpPr>
          <p:cNvPr id="22" name="Shape 20"/>
          <p:cNvSpPr/>
          <p:nvPr/>
        </p:nvSpPr>
        <p:spPr>
          <a:xfrm>
            <a:off x="6035040" y="3840480"/>
            <a:ext cx="2514600" cy="1463040"/>
          </a:xfrm>
          <a:prstGeom prst="roundRect">
            <a:avLst>
              <a:gd name="adj" fmla="val 6250"/>
            </a:avLst>
          </a:prstGeom>
          <a:solidFill>
            <a:srgbClr val="FAF9F6"/>
          </a:solidFill>
          <a:ln/>
        </p:spPr>
      </p:sp>
      <p:sp>
        <p:nvSpPr>
          <p:cNvPr id="23" name="Text 21"/>
          <p:cNvSpPr/>
          <p:nvPr/>
        </p:nvSpPr>
        <p:spPr>
          <a:xfrm>
            <a:off x="621792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STYLING</a:t>
            </a:r>
            <a:endParaRPr lang="en-US" sz="1050" dirty="0"/>
          </a:p>
        </p:txBody>
      </p:sp>
      <p:sp>
        <p:nvSpPr>
          <p:cNvPr id="24" name="Text 22"/>
          <p:cNvSpPr/>
          <p:nvPr/>
        </p:nvSpPr>
        <p:spPr>
          <a:xfrm>
            <a:off x="621792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Tailwind CSS</a:t>
            </a:r>
            <a:endParaRPr lang="en-US" sz="1500" dirty="0"/>
          </a:p>
        </p:txBody>
      </p:sp>
      <p:sp>
        <p:nvSpPr>
          <p:cNvPr id="25" name="Shape 23"/>
          <p:cNvSpPr/>
          <p:nvPr/>
        </p:nvSpPr>
        <p:spPr>
          <a:xfrm>
            <a:off x="8732520" y="3840480"/>
            <a:ext cx="2514600" cy="1463040"/>
          </a:xfrm>
          <a:prstGeom prst="roundRect">
            <a:avLst>
              <a:gd name="adj" fmla="val 6250"/>
            </a:avLst>
          </a:prstGeom>
          <a:solidFill>
            <a:srgbClr val="FAF9F6"/>
          </a:solidFill>
          <a:ln/>
        </p:spPr>
      </p:sp>
      <p:sp>
        <p:nvSpPr>
          <p:cNvPr id="26" name="Text 24"/>
          <p:cNvSpPr/>
          <p:nvPr/>
        </p:nvSpPr>
        <p:spPr>
          <a:xfrm>
            <a:off x="891540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CI/CD</a:t>
            </a:r>
            <a:endParaRPr lang="en-US" sz="1050" dirty="0"/>
          </a:p>
        </p:txBody>
      </p:sp>
      <p:sp>
        <p:nvSpPr>
          <p:cNvPr id="27" name="Text 25"/>
          <p:cNvSpPr/>
          <p:nvPr/>
        </p:nvSpPr>
        <p:spPr>
          <a:xfrm>
            <a:off x="891540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GitHub Actions</a:t>
            </a:r>
            <a:endParaRPr lang="en-US" sz="1500" dirty="0"/>
          </a:p>
        </p:txBody>
      </p:sp>
      <p:sp>
        <p:nvSpPr>
          <p:cNvPr id="28"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WHY CELO</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Chosen for fit, not for hype</a:t>
            </a:r>
            <a:endParaRPr lang="en-US" sz="3600" dirty="0"/>
          </a:p>
        </p:txBody>
      </p:sp>
      <p:sp>
        <p:nvSpPr>
          <p:cNvPr id="4" name="Shape 2"/>
          <p:cNvSpPr/>
          <p:nvPr/>
        </p:nvSpPr>
        <p:spPr>
          <a:xfrm>
            <a:off x="640080" y="2011680"/>
            <a:ext cx="5212080" cy="1828800"/>
          </a:xfrm>
          <a:prstGeom prst="roundRect">
            <a:avLst>
              <a:gd name="adj" fmla="val 5000"/>
            </a:avLst>
          </a:prstGeom>
          <a:solidFill>
            <a:srgbClr val="101A30"/>
          </a:solidFill>
          <a:ln/>
        </p:spPr>
      </p:sp>
      <p:sp>
        <p:nvSpPr>
          <p:cNvPr id="5" name="Text 3"/>
          <p:cNvSpPr/>
          <p:nvPr/>
        </p:nvSpPr>
        <p:spPr>
          <a:xfrm>
            <a:off x="960120" y="224028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Mobile-first design</a:t>
            </a:r>
            <a:endParaRPr lang="en-US" sz="1600" dirty="0"/>
          </a:p>
        </p:txBody>
      </p:sp>
      <p:sp>
        <p:nvSpPr>
          <p:cNvPr id="6" name="Text 4"/>
          <p:cNvSpPr/>
          <p:nvPr/>
        </p:nvSpPr>
        <p:spPr>
          <a:xfrm>
            <a:off x="960120" y="278892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Built for smartphone-based access — matching CeloHT's target users directly.</a:t>
            </a:r>
            <a:endParaRPr lang="en-US" sz="1300" dirty="0"/>
          </a:p>
        </p:txBody>
      </p:sp>
      <p:sp>
        <p:nvSpPr>
          <p:cNvPr id="7" name="Shape 5"/>
          <p:cNvSpPr/>
          <p:nvPr/>
        </p:nvSpPr>
        <p:spPr>
          <a:xfrm>
            <a:off x="6217920" y="2011680"/>
            <a:ext cx="5212080" cy="1828800"/>
          </a:xfrm>
          <a:prstGeom prst="roundRect">
            <a:avLst>
              <a:gd name="adj" fmla="val 5000"/>
            </a:avLst>
          </a:prstGeom>
          <a:solidFill>
            <a:srgbClr val="101A30"/>
          </a:solidFill>
          <a:ln/>
        </p:spPr>
      </p:sp>
      <p:sp>
        <p:nvSpPr>
          <p:cNvPr id="8" name="Text 6"/>
          <p:cNvSpPr/>
          <p:nvPr/>
        </p:nvSpPr>
        <p:spPr>
          <a:xfrm>
            <a:off x="6537960" y="224028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Low, predictable fees</a:t>
            </a:r>
            <a:endParaRPr lang="en-US" sz="1600" dirty="0"/>
          </a:p>
        </p:txBody>
      </p:sp>
      <p:sp>
        <p:nvSpPr>
          <p:cNvPr id="9" name="Text 7"/>
          <p:cNvSpPr/>
          <p:nvPr/>
        </p:nvSpPr>
        <p:spPr>
          <a:xfrm>
            <a:off x="6537960" y="278892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Critical for frequent, small-value transactions typical of everyday payments.</a:t>
            </a:r>
            <a:endParaRPr lang="en-US" sz="1300" dirty="0"/>
          </a:p>
        </p:txBody>
      </p:sp>
      <p:sp>
        <p:nvSpPr>
          <p:cNvPr id="10" name="Shape 8"/>
          <p:cNvSpPr/>
          <p:nvPr/>
        </p:nvSpPr>
        <p:spPr>
          <a:xfrm>
            <a:off x="640080" y="4114800"/>
            <a:ext cx="5212080" cy="1828800"/>
          </a:xfrm>
          <a:prstGeom prst="roundRect">
            <a:avLst>
              <a:gd name="adj" fmla="val 5000"/>
            </a:avLst>
          </a:prstGeom>
          <a:solidFill>
            <a:srgbClr val="101A30"/>
          </a:solidFill>
          <a:ln/>
        </p:spPr>
      </p:sp>
      <p:sp>
        <p:nvSpPr>
          <p:cNvPr id="11" name="Text 9"/>
          <p:cNvSpPr/>
          <p:nvPr/>
        </p:nvSpPr>
        <p:spPr>
          <a:xfrm>
            <a:off x="960120" y="434340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Stable-value USDm</a:t>
            </a:r>
            <a:endParaRPr lang="en-US" sz="1600" dirty="0"/>
          </a:p>
        </p:txBody>
      </p:sp>
      <p:sp>
        <p:nvSpPr>
          <p:cNvPr id="12" name="Text 10"/>
          <p:cNvSpPr/>
          <p:nvPr/>
        </p:nvSpPr>
        <p:spPr>
          <a:xfrm>
            <a:off x="960120" y="489204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Reduces volatility exposure for people who can least afford to absorb it.</a:t>
            </a:r>
            <a:endParaRPr lang="en-US" sz="1300" dirty="0"/>
          </a:p>
        </p:txBody>
      </p:sp>
      <p:sp>
        <p:nvSpPr>
          <p:cNvPr id="13" name="Shape 11"/>
          <p:cNvSpPr/>
          <p:nvPr/>
        </p:nvSpPr>
        <p:spPr>
          <a:xfrm>
            <a:off x="6217920" y="4114800"/>
            <a:ext cx="5212080" cy="1828800"/>
          </a:xfrm>
          <a:prstGeom prst="roundRect">
            <a:avLst>
              <a:gd name="adj" fmla="val 5000"/>
            </a:avLst>
          </a:prstGeom>
          <a:solidFill>
            <a:srgbClr val="101A30"/>
          </a:solidFill>
          <a:ln/>
        </p:spPr>
      </p:sp>
      <p:sp>
        <p:nvSpPr>
          <p:cNvPr id="14" name="Text 12"/>
          <p:cNvSpPr/>
          <p:nvPr/>
        </p:nvSpPr>
        <p:spPr>
          <a:xfrm>
            <a:off x="6537960" y="434340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EVM compatibility</a:t>
            </a:r>
            <a:endParaRPr lang="en-US" sz="1600" dirty="0"/>
          </a:p>
        </p:txBody>
      </p:sp>
      <p:sp>
        <p:nvSpPr>
          <p:cNvPr id="15" name="Text 13"/>
          <p:cNvSpPr/>
          <p:nvPr/>
        </p:nvSpPr>
        <p:spPr>
          <a:xfrm>
            <a:off x="6537960" y="489204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Access to well-audited, standard smart-contract tooling.</a:t>
            </a:r>
            <a:endParaRPr lang="en-US" sz="1300" dirty="0"/>
          </a:p>
        </p:txBody>
      </p:sp>
      <p:sp>
        <p:nvSpPr>
          <p:cNvPr id="16" name="Text 14"/>
          <p:cNvSpPr/>
          <p:nvPr/>
        </p:nvSpPr>
        <p:spPr>
          <a:xfrm>
            <a:off x="640080" y="6172200"/>
            <a:ext cx="10881360" cy="365760"/>
          </a:xfrm>
          <a:prstGeom prst="rect">
            <a:avLst/>
          </a:prstGeom>
          <a:noFill/>
          <a:ln/>
        </p:spPr>
        <p:txBody>
          <a:bodyPr wrap="square" lIns="0" tIns="0" rIns="0" bIns="0" rtlCol="0" anchor="ctr"/>
          <a:lstStyle/>
          <a:p>
            <a:pPr indent="0" marL="0">
              <a:buNone/>
            </a:pPr>
            <a:r>
              <a:rPr lang="en-US" sz="1100" i="1" dirty="0">
                <a:solidFill>
                  <a:srgbClr val="D4D4D4"/>
                </a:solidFill>
                <a:latin typeface="Calibri" pitchFamily="34" charset="0"/>
                <a:ea typeface="Calibri" pitchFamily="34" charset="-122"/>
                <a:cs typeface="Calibri" pitchFamily="34" charset="-120"/>
              </a:rPr>
              <a:t>CeloHT is not affiliated with, endorsed by, or operated by Celo Foundation or Valora — Celo is an infrastructure choice, not a partnership.</a:t>
            </a:r>
            <a:endParaRPr lang="en-US" sz="110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COMMUNITY IMPACT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What impact looks like, and how we prove it</a:t>
            </a:r>
            <a:endParaRPr lang="en-US" sz="3600" dirty="0"/>
          </a:p>
        </p:txBody>
      </p:sp>
      <p:sp>
        <p:nvSpPr>
          <p:cNvPr id="4" name="Text 2"/>
          <p:cNvSpPr/>
          <p:nvPr/>
        </p:nvSpPr>
        <p:spPr>
          <a:xfrm>
            <a:off x="640080" y="1874520"/>
            <a:ext cx="10881360" cy="54864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CeloHT measures impact through outcomes, never through financial metrics — because CeloHT is not a financial product.</a:t>
            </a:r>
            <a:endParaRPr lang="en-US" sz="1400" dirty="0"/>
          </a:p>
        </p:txBody>
      </p:sp>
      <p:sp>
        <p:nvSpPr>
          <p:cNvPr id="5" name="Shape 3"/>
          <p:cNvSpPr/>
          <p:nvPr/>
        </p:nvSpPr>
        <p:spPr>
          <a:xfrm>
            <a:off x="640080" y="2651760"/>
            <a:ext cx="3429000" cy="1920240"/>
          </a:xfrm>
          <a:prstGeom prst="roundRect">
            <a:avLst>
              <a:gd name="adj" fmla="val 4762"/>
            </a:avLst>
          </a:prstGeom>
          <a:solidFill>
            <a:srgbClr val="FAF9F6"/>
          </a:solidFill>
          <a:ln/>
        </p:spPr>
      </p:sp>
      <p:sp>
        <p:nvSpPr>
          <p:cNvPr id="6" name="Text 4"/>
          <p:cNvSpPr/>
          <p:nvPr/>
        </p:nvSpPr>
        <p:spPr>
          <a:xfrm>
            <a:off x="914400" y="2880360"/>
            <a:ext cx="2926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Education</a:t>
            </a:r>
            <a:endParaRPr lang="en-US" sz="1600" dirty="0"/>
          </a:p>
        </p:txBody>
      </p:sp>
      <p:sp>
        <p:nvSpPr>
          <p:cNvPr id="7" name="Text 5"/>
          <p:cNvSpPr/>
          <p:nvPr/>
        </p:nvSpPr>
        <p:spPr>
          <a:xfrm>
            <a:off x="914400" y="3291840"/>
            <a:ext cx="2926080" cy="10972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People trained, module completion, knowledge retention</a:t>
            </a:r>
            <a:endParaRPr lang="en-US" sz="1250" dirty="0"/>
          </a:p>
        </p:txBody>
      </p:sp>
      <p:sp>
        <p:nvSpPr>
          <p:cNvPr id="8" name="Shape 6"/>
          <p:cNvSpPr/>
          <p:nvPr/>
        </p:nvSpPr>
        <p:spPr>
          <a:xfrm>
            <a:off x="4343400" y="2651760"/>
            <a:ext cx="3429000" cy="1920240"/>
          </a:xfrm>
          <a:prstGeom prst="roundRect">
            <a:avLst>
              <a:gd name="adj" fmla="val 4762"/>
            </a:avLst>
          </a:prstGeom>
          <a:solidFill>
            <a:srgbClr val="FAF9F6"/>
          </a:solidFill>
          <a:ln/>
        </p:spPr>
      </p:sp>
      <p:sp>
        <p:nvSpPr>
          <p:cNvPr id="9" name="Text 7"/>
          <p:cNvSpPr/>
          <p:nvPr/>
        </p:nvSpPr>
        <p:spPr>
          <a:xfrm>
            <a:off x="4617720" y="2880360"/>
            <a:ext cx="2926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Agent Network</a:t>
            </a:r>
            <a:endParaRPr lang="en-US" sz="1600" dirty="0"/>
          </a:p>
        </p:txBody>
      </p:sp>
      <p:sp>
        <p:nvSpPr>
          <p:cNvPr id="10" name="Text 8"/>
          <p:cNvSpPr/>
          <p:nvPr/>
        </p:nvSpPr>
        <p:spPr>
          <a:xfrm>
            <a:off x="4617720" y="3291840"/>
            <a:ext cx="2926080" cy="10972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Active agents, 90-day retention, transaction volume</a:t>
            </a:r>
            <a:endParaRPr lang="en-US" sz="1250" dirty="0"/>
          </a:p>
        </p:txBody>
      </p:sp>
      <p:sp>
        <p:nvSpPr>
          <p:cNvPr id="11" name="Shape 9"/>
          <p:cNvSpPr/>
          <p:nvPr/>
        </p:nvSpPr>
        <p:spPr>
          <a:xfrm>
            <a:off x="8046720" y="2651760"/>
            <a:ext cx="3429000" cy="1920240"/>
          </a:xfrm>
          <a:prstGeom prst="roundRect">
            <a:avLst>
              <a:gd name="adj" fmla="val 4762"/>
            </a:avLst>
          </a:prstGeom>
          <a:solidFill>
            <a:srgbClr val="FAF9F6"/>
          </a:solidFill>
          <a:ln/>
        </p:spPr>
      </p:sp>
      <p:sp>
        <p:nvSpPr>
          <p:cNvPr id="12" name="Text 10"/>
          <p:cNvSpPr/>
          <p:nvPr/>
        </p:nvSpPr>
        <p:spPr>
          <a:xfrm>
            <a:off x="8321040" y="2880360"/>
            <a:ext cx="2926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Reforestation</a:t>
            </a:r>
            <a:endParaRPr lang="en-US" sz="1600" dirty="0"/>
          </a:p>
        </p:txBody>
      </p:sp>
      <p:sp>
        <p:nvSpPr>
          <p:cNvPr id="13" name="Text 11"/>
          <p:cNvSpPr/>
          <p:nvPr/>
        </p:nvSpPr>
        <p:spPr>
          <a:xfrm>
            <a:off x="8321040" y="3291840"/>
            <a:ext cx="2926080" cy="10972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Trees planted AND verified survival rate — never one without the other</a:t>
            </a:r>
            <a:endParaRPr lang="en-US" sz="1250" dirty="0"/>
          </a:p>
        </p:txBody>
      </p:sp>
      <p:sp>
        <p:nvSpPr>
          <p:cNvPr id="14" name="Shape 12"/>
          <p:cNvSpPr/>
          <p:nvPr/>
        </p:nvSpPr>
        <p:spPr>
          <a:xfrm>
            <a:off x="640080" y="4892040"/>
            <a:ext cx="10881360" cy="1371600"/>
          </a:xfrm>
          <a:prstGeom prst="roundRect">
            <a:avLst>
              <a:gd name="adj" fmla="val 6667"/>
            </a:avLst>
          </a:prstGeom>
          <a:solidFill>
            <a:srgbClr val="1B2A4A"/>
          </a:solidFill>
          <a:ln/>
        </p:spPr>
      </p:sp>
      <p:pic>
        <p:nvPicPr>
          <p:cNvPr id="15" name="Image 0" descr="./icons/warning_F5A623.png">    </p:cNvPr>
          <p:cNvPicPr>
            <a:picLocks noChangeAspect="1"/>
          </p:cNvPicPr>
          <p:nvPr/>
        </p:nvPicPr>
        <p:blipFill>
          <a:blip r:embed="rId1"/>
          <a:stretch>
            <a:fillRect/>
          </a:stretch>
        </p:blipFill>
        <p:spPr>
          <a:xfrm>
            <a:off x="914400" y="5166360"/>
            <a:ext cx="457200" cy="457200"/>
          </a:xfrm>
          <a:prstGeom prst="rect">
            <a:avLst/>
          </a:prstGeom>
        </p:spPr>
      </p:pic>
      <p:sp>
        <p:nvSpPr>
          <p:cNvPr id="16" name="Text 13"/>
          <p:cNvSpPr/>
          <p:nvPr/>
        </p:nvSpPr>
        <p:spPr>
          <a:xfrm>
            <a:off x="1554480" y="5029200"/>
            <a:ext cx="9692640" cy="10972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Honest framing: CeloHT is currently in its Phase 1 foundation stage. The metrics above are the reporting framework we hold ourselves to — see the Traction slide for what has actually been achieved to date versus what's still a target.</a:t>
            </a:r>
            <a:endParaRPr lang="en-US" sz="1250" dirty="0"/>
          </a:p>
        </p:txBody>
      </p:sp>
      <p:sp>
        <p:nvSpPr>
          <p:cNvPr id="17"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8"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BUSINESS MODEL</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Funded like a nonprofit, not like a startup</a:t>
            </a:r>
            <a:endParaRPr lang="en-US" sz="3600" dirty="0"/>
          </a:p>
        </p:txBody>
      </p:sp>
      <p:sp>
        <p:nvSpPr>
          <p:cNvPr id="4" name="Shape 2"/>
          <p:cNvSpPr/>
          <p:nvPr/>
        </p:nvSpPr>
        <p:spPr>
          <a:xfrm>
            <a:off x="640080" y="2011680"/>
            <a:ext cx="5212080" cy="3931920"/>
          </a:xfrm>
          <a:prstGeom prst="roundRect">
            <a:avLst>
              <a:gd name="adj" fmla="val 2326"/>
            </a:avLst>
          </a:prstGeom>
          <a:solidFill>
            <a:srgbClr val="FAF9F6"/>
          </a:solidFill>
          <a:ln/>
        </p:spPr>
      </p:sp>
      <p:pic>
        <p:nvPicPr>
          <p:cNvPr id="5" name="Image 0" descr="./icons/coins_1B2A4A.png">    </p:cNvPr>
          <p:cNvPicPr>
            <a:picLocks noChangeAspect="1"/>
          </p:cNvPicPr>
          <p:nvPr/>
        </p:nvPicPr>
        <p:blipFill>
          <a:blip r:embed="rId1"/>
          <a:stretch>
            <a:fillRect/>
          </a:stretch>
        </p:blipFill>
        <p:spPr>
          <a:xfrm>
            <a:off x="960120" y="2286000"/>
            <a:ext cx="457200" cy="457200"/>
          </a:xfrm>
          <a:prstGeom prst="rect">
            <a:avLst/>
          </a:prstGeom>
        </p:spPr>
      </p:pic>
      <p:sp>
        <p:nvSpPr>
          <p:cNvPr id="6" name="Text 3"/>
          <p:cNvSpPr/>
          <p:nvPr/>
        </p:nvSpPr>
        <p:spPr>
          <a:xfrm>
            <a:off x="1554480" y="2286000"/>
            <a:ext cx="3931920" cy="45720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Today</a:t>
            </a:r>
            <a:endParaRPr lang="en-US" sz="1800" dirty="0"/>
          </a:p>
        </p:txBody>
      </p:sp>
      <p:sp>
        <p:nvSpPr>
          <p:cNvPr id="7" name="Text 4"/>
          <p:cNvSpPr/>
          <p:nvPr/>
        </p:nvSpPr>
        <p:spPr>
          <a:xfrm>
            <a:off x="1005840" y="301752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Celo ecosystem grants</a:t>
            </a:r>
            <a:endParaRPr lang="en-US" sz="1300" dirty="0"/>
          </a:p>
        </p:txBody>
      </p:sp>
      <p:sp>
        <p:nvSpPr>
          <p:cNvPr id="8" name="Text 5"/>
          <p:cNvSpPr/>
          <p:nvPr/>
        </p:nvSpPr>
        <p:spPr>
          <a:xfrm>
            <a:off x="1005840" y="379476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Strategic partnerships tied to specific projects</a:t>
            </a:r>
            <a:endParaRPr lang="en-US" sz="1300" dirty="0"/>
          </a:p>
        </p:txBody>
      </p:sp>
      <p:sp>
        <p:nvSpPr>
          <p:cNvPr id="9" name="Text 6"/>
          <p:cNvSpPr/>
          <p:nvPr/>
        </p:nvSpPr>
        <p:spPr>
          <a:xfrm>
            <a:off x="1005840" y="457200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Voluntary community contributions (GitHub Sponsors)</a:t>
            </a:r>
            <a:endParaRPr lang="en-US" sz="1300" dirty="0"/>
          </a:p>
        </p:txBody>
      </p:sp>
      <p:sp>
        <p:nvSpPr>
          <p:cNvPr id="10" name="Shape 7"/>
          <p:cNvSpPr/>
          <p:nvPr/>
        </p:nvSpPr>
        <p:spPr>
          <a:xfrm>
            <a:off x="6217920" y="2011680"/>
            <a:ext cx="5212080" cy="3931920"/>
          </a:xfrm>
          <a:prstGeom prst="roundRect">
            <a:avLst>
              <a:gd name="adj" fmla="val 2326"/>
            </a:avLst>
          </a:prstGeom>
          <a:solidFill>
            <a:srgbClr val="FAF9F6"/>
          </a:solidFill>
          <a:ln/>
        </p:spPr>
      </p:sp>
      <p:pic>
        <p:nvPicPr>
          <p:cNvPr id="11" name="Image 1" descr="./icons/growth_1B2A4A.png">    </p:cNvPr>
          <p:cNvPicPr>
            <a:picLocks noChangeAspect="1"/>
          </p:cNvPicPr>
          <p:nvPr/>
        </p:nvPicPr>
        <p:blipFill>
          <a:blip r:embed="rId2"/>
          <a:stretch>
            <a:fillRect/>
          </a:stretch>
        </p:blipFill>
        <p:spPr>
          <a:xfrm>
            <a:off x="6537960" y="2286000"/>
            <a:ext cx="457200" cy="457200"/>
          </a:xfrm>
          <a:prstGeom prst="rect">
            <a:avLst/>
          </a:prstGeom>
        </p:spPr>
      </p:pic>
      <p:sp>
        <p:nvSpPr>
          <p:cNvPr id="12" name="Text 8"/>
          <p:cNvSpPr/>
          <p:nvPr/>
        </p:nvSpPr>
        <p:spPr>
          <a:xfrm>
            <a:off x="7132320" y="2286000"/>
            <a:ext cx="3931920" cy="45720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Phase 3+ (2027)</a:t>
            </a:r>
            <a:endParaRPr lang="en-US" sz="1800" dirty="0"/>
          </a:p>
        </p:txBody>
      </p:sp>
      <p:sp>
        <p:nvSpPr>
          <p:cNvPr id="13" name="Text 9"/>
          <p:cNvSpPr/>
          <p:nvPr/>
        </p:nvSpPr>
        <p:spPr>
          <a:xfrm>
            <a:off x="6583680" y="301752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Reasonable, transparent Agent Network service fees</a:t>
            </a:r>
            <a:endParaRPr lang="en-US" sz="1300" dirty="0"/>
          </a:p>
        </p:txBody>
      </p:sp>
      <p:sp>
        <p:nvSpPr>
          <p:cNvPr id="14" name="Text 10"/>
          <p:cNvSpPr/>
          <p:nvPr/>
        </p:nvSpPr>
        <p:spPr>
          <a:xfrm>
            <a:off x="6583680" y="379476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Reduced dependence on grants over time</a:t>
            </a:r>
            <a:endParaRPr lang="en-US" sz="1300" dirty="0"/>
          </a:p>
        </p:txBody>
      </p:sp>
      <p:sp>
        <p:nvSpPr>
          <p:cNvPr id="15" name="Text 11"/>
          <p:cNvSpPr/>
          <p:nvPr/>
        </p:nvSpPr>
        <p:spPr>
          <a:xfrm>
            <a:off x="6583680" y="457200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No equity, no token, no speculative instrument — ever</a:t>
            </a:r>
            <a:endParaRPr lang="en-US" sz="1300" dirty="0"/>
          </a:p>
        </p:txBody>
      </p:sp>
      <p:sp>
        <p:nvSpPr>
          <p:cNvPr id="16"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7"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COMPETITIVE LANDSCAPE</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Where CeloHT sits</a:t>
            </a:r>
            <a:endParaRPr lang="en-US" sz="3600" dirty="0"/>
          </a:p>
        </p:txBody>
      </p:sp>
      <p:sp>
        <p:nvSpPr>
          <p:cNvPr id="4" name="Shape 2"/>
          <p:cNvSpPr/>
          <p:nvPr/>
        </p:nvSpPr>
        <p:spPr>
          <a:xfrm>
            <a:off x="640080" y="1965960"/>
            <a:ext cx="2560320" cy="640080"/>
          </a:xfrm>
          <a:prstGeom prst="rect">
            <a:avLst/>
          </a:prstGeom>
          <a:solidFill>
            <a:srgbClr val="FAF9F6"/>
          </a:solidFill>
          <a:ln w="12700">
            <a:solidFill>
              <a:srgbClr val="FFFFFF"/>
            </a:solidFill>
            <a:prstDash val="solid"/>
          </a:ln>
        </p:spPr>
      </p:sp>
      <p:sp>
        <p:nvSpPr>
          <p:cNvPr id="5" name="Text 3"/>
          <p:cNvSpPr/>
          <p:nvPr/>
        </p:nvSpPr>
        <p:spPr>
          <a:xfrm>
            <a:off x="731520" y="2011680"/>
            <a:ext cx="2377440" cy="548640"/>
          </a:xfrm>
          <a:prstGeom prst="rect">
            <a:avLst/>
          </a:prstGeom>
          <a:noFill/>
          <a:ln/>
        </p:spPr>
        <p:txBody>
          <a:bodyPr wrap="square" lIns="0" tIns="0" rIns="0" bIns="0" rtlCol="0" anchor="ctr"/>
          <a:lstStyle/>
          <a:p>
            <a:pPr algn="ctr" indent="0" marL="0">
              <a:buNone/>
            </a:pPr>
            <a:endParaRPr lang="en-US" sz="1050" dirty="0"/>
          </a:p>
        </p:txBody>
      </p:sp>
      <p:sp>
        <p:nvSpPr>
          <p:cNvPr id="6" name="Shape 4"/>
          <p:cNvSpPr/>
          <p:nvPr/>
        </p:nvSpPr>
        <p:spPr>
          <a:xfrm>
            <a:off x="3200400" y="1965960"/>
            <a:ext cx="2651760" cy="640080"/>
          </a:xfrm>
          <a:prstGeom prst="rect">
            <a:avLst/>
          </a:prstGeom>
          <a:solidFill>
            <a:srgbClr val="FAF9F6"/>
          </a:solidFill>
          <a:ln w="12700">
            <a:solidFill>
              <a:srgbClr val="FFFFFF"/>
            </a:solidFill>
            <a:prstDash val="solid"/>
          </a:ln>
        </p:spPr>
      </p:sp>
      <p:sp>
        <p:nvSpPr>
          <p:cNvPr id="7" name="Text 5"/>
          <p:cNvSpPr/>
          <p:nvPr/>
        </p:nvSpPr>
        <p:spPr>
          <a:xfrm>
            <a:off x="3291840" y="2011680"/>
            <a:ext cx="2468880" cy="548640"/>
          </a:xfrm>
          <a:prstGeom prst="rect">
            <a:avLst/>
          </a:prstGeom>
          <a:noFill/>
          <a:ln/>
        </p:spPr>
        <p:txBody>
          <a:bodyPr wrap="square" lIns="0" tIns="0" rIns="0" bIns="0" rtlCol="0" anchor="ctr"/>
          <a:lstStyle/>
          <a:p>
            <a:pPr algn="ctr" indent="0" marL="0">
              <a:buNone/>
            </a:pPr>
            <a:r>
              <a:rPr lang="en-US" sz="1050" b="1" dirty="0">
                <a:solidFill>
                  <a:srgbClr val="1B2A4A"/>
                </a:solidFill>
                <a:latin typeface="Calibri" pitchFamily="34" charset="0"/>
                <a:ea typeface="Calibri" pitchFamily="34" charset="-122"/>
                <a:cs typeface="Calibri" pitchFamily="34" charset="-120"/>
              </a:rPr>
              <a:t>Token-based</a:t>
            </a:r>
            <a:endParaRPr lang="en-US" sz="1050" dirty="0"/>
          </a:p>
          <a:p>
            <a:pPr algn="ctr" indent="0" marL="0">
              <a:buNone/>
            </a:pPr>
            <a:r>
              <a:rPr lang="en-US" sz="1050" b="1" dirty="0">
                <a:solidFill>
                  <a:srgbClr val="1B2A4A"/>
                </a:solidFill>
                <a:latin typeface="Calibri" pitchFamily="34" charset="0"/>
                <a:ea typeface="Calibri" pitchFamily="34" charset="-122"/>
                <a:cs typeface="Calibri" pitchFamily="34" charset="-120"/>
              </a:rPr>
              <a:t>financial inclusion apps</a:t>
            </a:r>
            <a:endParaRPr lang="en-US" sz="1050" dirty="0"/>
          </a:p>
        </p:txBody>
      </p:sp>
      <p:sp>
        <p:nvSpPr>
          <p:cNvPr id="8" name="Shape 6"/>
          <p:cNvSpPr/>
          <p:nvPr/>
        </p:nvSpPr>
        <p:spPr>
          <a:xfrm>
            <a:off x="5852160" y="1965960"/>
            <a:ext cx="2651760" cy="640080"/>
          </a:xfrm>
          <a:prstGeom prst="rect">
            <a:avLst/>
          </a:prstGeom>
          <a:solidFill>
            <a:srgbClr val="FAF9F6"/>
          </a:solidFill>
          <a:ln w="12700">
            <a:solidFill>
              <a:srgbClr val="FFFFFF"/>
            </a:solidFill>
            <a:prstDash val="solid"/>
          </a:ln>
        </p:spPr>
      </p:sp>
      <p:sp>
        <p:nvSpPr>
          <p:cNvPr id="9" name="Text 7"/>
          <p:cNvSpPr/>
          <p:nvPr/>
        </p:nvSpPr>
        <p:spPr>
          <a:xfrm>
            <a:off x="5943600" y="2011680"/>
            <a:ext cx="2468880" cy="548640"/>
          </a:xfrm>
          <a:prstGeom prst="rect">
            <a:avLst/>
          </a:prstGeom>
          <a:noFill/>
          <a:ln/>
        </p:spPr>
        <p:txBody>
          <a:bodyPr wrap="square" lIns="0" tIns="0" rIns="0" bIns="0" rtlCol="0" anchor="ctr"/>
          <a:lstStyle/>
          <a:p>
            <a:pPr algn="ctr" indent="0" marL="0">
              <a:buNone/>
            </a:pPr>
            <a:r>
              <a:rPr lang="en-US" sz="1050" b="1" dirty="0">
                <a:solidFill>
                  <a:srgbClr val="1B2A4A"/>
                </a:solidFill>
                <a:latin typeface="Calibri" pitchFamily="34" charset="0"/>
                <a:ea typeface="Calibri" pitchFamily="34" charset="-122"/>
                <a:cs typeface="Calibri" pitchFamily="34" charset="-120"/>
              </a:rPr>
              <a:t>Traditional</a:t>
            </a:r>
            <a:endParaRPr lang="en-US" sz="1050" dirty="0"/>
          </a:p>
          <a:p>
            <a:pPr algn="ctr" indent="0" marL="0">
              <a:buNone/>
            </a:pPr>
            <a:r>
              <a:rPr lang="en-US" sz="1050" b="1" dirty="0">
                <a:solidFill>
                  <a:srgbClr val="1B2A4A"/>
                </a:solidFill>
                <a:latin typeface="Calibri" pitchFamily="34" charset="0"/>
                <a:ea typeface="Calibri" pitchFamily="34" charset="-122"/>
                <a:cs typeface="Calibri" pitchFamily="34" charset="-120"/>
              </a:rPr>
              <a:t>microfinance NGOs</a:t>
            </a:r>
            <a:endParaRPr lang="en-US" sz="1050" dirty="0"/>
          </a:p>
        </p:txBody>
      </p:sp>
      <p:sp>
        <p:nvSpPr>
          <p:cNvPr id="10" name="Shape 8"/>
          <p:cNvSpPr/>
          <p:nvPr/>
        </p:nvSpPr>
        <p:spPr>
          <a:xfrm>
            <a:off x="8503920" y="1965960"/>
            <a:ext cx="2743200" cy="640080"/>
          </a:xfrm>
          <a:prstGeom prst="rect">
            <a:avLst/>
          </a:prstGeom>
          <a:solidFill>
            <a:srgbClr val="1B2A4A"/>
          </a:solidFill>
          <a:ln w="12700">
            <a:solidFill>
              <a:srgbClr val="FFFFFF"/>
            </a:solidFill>
            <a:prstDash val="solid"/>
          </a:ln>
        </p:spPr>
      </p:sp>
      <p:sp>
        <p:nvSpPr>
          <p:cNvPr id="11" name="Text 9"/>
          <p:cNvSpPr/>
          <p:nvPr/>
        </p:nvSpPr>
        <p:spPr>
          <a:xfrm>
            <a:off x="8595360" y="2011680"/>
            <a:ext cx="256032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CeloHT</a:t>
            </a:r>
            <a:endParaRPr lang="en-US" sz="1050" dirty="0"/>
          </a:p>
        </p:txBody>
      </p:sp>
      <p:sp>
        <p:nvSpPr>
          <p:cNvPr id="12" name="Shape 10"/>
          <p:cNvSpPr/>
          <p:nvPr/>
        </p:nvSpPr>
        <p:spPr>
          <a:xfrm>
            <a:off x="640080" y="2606040"/>
            <a:ext cx="2560320" cy="658368"/>
          </a:xfrm>
          <a:prstGeom prst="rect">
            <a:avLst/>
          </a:prstGeom>
          <a:solidFill>
            <a:srgbClr val="FFFFFF"/>
          </a:solidFill>
          <a:ln w="6350">
            <a:solidFill>
              <a:srgbClr val="D4D4D4"/>
            </a:solidFill>
            <a:prstDash val="solid"/>
          </a:ln>
        </p:spPr>
      </p:sp>
      <p:sp>
        <p:nvSpPr>
          <p:cNvPr id="13" name="Text 11"/>
          <p:cNvSpPr/>
          <p:nvPr/>
        </p:nvSpPr>
        <p:spPr>
          <a:xfrm>
            <a:off x="731520" y="2606040"/>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Financial model</a:t>
            </a:r>
            <a:endParaRPr lang="en-US" sz="1050" dirty="0"/>
          </a:p>
        </p:txBody>
      </p:sp>
      <p:sp>
        <p:nvSpPr>
          <p:cNvPr id="14" name="Shape 12"/>
          <p:cNvSpPr/>
          <p:nvPr/>
        </p:nvSpPr>
        <p:spPr>
          <a:xfrm>
            <a:off x="3200400" y="2606040"/>
            <a:ext cx="2651760" cy="658368"/>
          </a:xfrm>
          <a:prstGeom prst="rect">
            <a:avLst/>
          </a:prstGeom>
          <a:solidFill>
            <a:srgbClr val="FFFFFF"/>
          </a:solidFill>
          <a:ln w="6350">
            <a:solidFill>
              <a:srgbClr val="D4D4D4"/>
            </a:solidFill>
            <a:prstDash val="solid"/>
          </a:ln>
        </p:spPr>
      </p:sp>
      <p:sp>
        <p:nvSpPr>
          <p:cNvPr id="15" name="Text 13"/>
          <p:cNvSpPr/>
          <p:nvPr/>
        </p:nvSpPr>
        <p:spPr>
          <a:xfrm>
            <a:off x="3291840" y="2606040"/>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Token / speculative</a:t>
            </a:r>
            <a:endParaRPr lang="en-US" sz="1050" dirty="0"/>
          </a:p>
        </p:txBody>
      </p:sp>
      <p:sp>
        <p:nvSpPr>
          <p:cNvPr id="16" name="Shape 14"/>
          <p:cNvSpPr/>
          <p:nvPr/>
        </p:nvSpPr>
        <p:spPr>
          <a:xfrm>
            <a:off x="5852160" y="2606040"/>
            <a:ext cx="2651760" cy="658368"/>
          </a:xfrm>
          <a:prstGeom prst="rect">
            <a:avLst/>
          </a:prstGeom>
          <a:solidFill>
            <a:srgbClr val="FFFFFF"/>
          </a:solidFill>
          <a:ln w="6350">
            <a:solidFill>
              <a:srgbClr val="D4D4D4"/>
            </a:solidFill>
            <a:prstDash val="solid"/>
          </a:ln>
        </p:spPr>
      </p:sp>
      <p:sp>
        <p:nvSpPr>
          <p:cNvPr id="17" name="Text 15"/>
          <p:cNvSpPr/>
          <p:nvPr/>
        </p:nvSpPr>
        <p:spPr>
          <a:xfrm>
            <a:off x="5943600" y="2606040"/>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Grant-funded</a:t>
            </a:r>
            <a:endParaRPr lang="en-US" sz="1050" dirty="0"/>
          </a:p>
        </p:txBody>
      </p:sp>
      <p:sp>
        <p:nvSpPr>
          <p:cNvPr id="18" name="Shape 16"/>
          <p:cNvSpPr/>
          <p:nvPr/>
        </p:nvSpPr>
        <p:spPr>
          <a:xfrm>
            <a:off x="8503920" y="2606040"/>
            <a:ext cx="2743200" cy="658368"/>
          </a:xfrm>
          <a:prstGeom prst="rect">
            <a:avLst/>
          </a:prstGeom>
          <a:solidFill>
            <a:srgbClr val="FEF6E6"/>
          </a:solidFill>
          <a:ln w="6350">
            <a:solidFill>
              <a:srgbClr val="D4D4D4"/>
            </a:solidFill>
            <a:prstDash val="solid"/>
          </a:ln>
        </p:spPr>
      </p:sp>
      <p:sp>
        <p:nvSpPr>
          <p:cNvPr id="19" name="Text 17"/>
          <p:cNvSpPr/>
          <p:nvPr/>
        </p:nvSpPr>
        <p:spPr>
          <a:xfrm>
            <a:off x="8595360" y="2606040"/>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Grant-funded, transparent</a:t>
            </a:r>
            <a:endParaRPr lang="en-US" sz="1050" dirty="0"/>
          </a:p>
        </p:txBody>
      </p:sp>
      <p:sp>
        <p:nvSpPr>
          <p:cNvPr id="20" name="Shape 18"/>
          <p:cNvSpPr/>
          <p:nvPr/>
        </p:nvSpPr>
        <p:spPr>
          <a:xfrm>
            <a:off x="640080" y="3264408"/>
            <a:ext cx="2560320" cy="658368"/>
          </a:xfrm>
          <a:prstGeom prst="rect">
            <a:avLst/>
          </a:prstGeom>
          <a:solidFill>
            <a:srgbClr val="FAF9F6"/>
          </a:solidFill>
          <a:ln w="6350">
            <a:solidFill>
              <a:srgbClr val="D4D4D4"/>
            </a:solidFill>
            <a:prstDash val="solid"/>
          </a:ln>
        </p:spPr>
      </p:sp>
      <p:sp>
        <p:nvSpPr>
          <p:cNvPr id="21" name="Text 19"/>
          <p:cNvSpPr/>
          <p:nvPr/>
        </p:nvSpPr>
        <p:spPr>
          <a:xfrm>
            <a:off x="731520" y="3264408"/>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Local trust mechanism</a:t>
            </a:r>
            <a:endParaRPr lang="en-US" sz="1050" dirty="0"/>
          </a:p>
        </p:txBody>
      </p:sp>
      <p:sp>
        <p:nvSpPr>
          <p:cNvPr id="22" name="Shape 20"/>
          <p:cNvSpPr/>
          <p:nvPr/>
        </p:nvSpPr>
        <p:spPr>
          <a:xfrm>
            <a:off x="3200400" y="3264408"/>
            <a:ext cx="2651760" cy="658368"/>
          </a:xfrm>
          <a:prstGeom prst="rect">
            <a:avLst/>
          </a:prstGeom>
          <a:solidFill>
            <a:srgbClr val="FAF9F6"/>
          </a:solidFill>
          <a:ln w="6350">
            <a:solidFill>
              <a:srgbClr val="D4D4D4"/>
            </a:solidFill>
            <a:prstDash val="solid"/>
          </a:ln>
        </p:spPr>
      </p:sp>
      <p:sp>
        <p:nvSpPr>
          <p:cNvPr id="23" name="Text 21"/>
          <p:cNvSpPr/>
          <p:nvPr/>
        </p:nvSpPr>
        <p:spPr>
          <a:xfrm>
            <a:off x="3291840" y="3264408"/>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App only</a:t>
            </a:r>
            <a:endParaRPr lang="en-US" sz="1050" dirty="0"/>
          </a:p>
        </p:txBody>
      </p:sp>
      <p:sp>
        <p:nvSpPr>
          <p:cNvPr id="24" name="Shape 22"/>
          <p:cNvSpPr/>
          <p:nvPr/>
        </p:nvSpPr>
        <p:spPr>
          <a:xfrm>
            <a:off x="5852160" y="3264408"/>
            <a:ext cx="2651760" cy="658368"/>
          </a:xfrm>
          <a:prstGeom prst="rect">
            <a:avLst/>
          </a:prstGeom>
          <a:solidFill>
            <a:srgbClr val="FAF9F6"/>
          </a:solidFill>
          <a:ln w="6350">
            <a:solidFill>
              <a:srgbClr val="D4D4D4"/>
            </a:solidFill>
            <a:prstDash val="solid"/>
          </a:ln>
        </p:spPr>
      </p:sp>
      <p:sp>
        <p:nvSpPr>
          <p:cNvPr id="25" name="Text 23"/>
          <p:cNvSpPr/>
          <p:nvPr/>
        </p:nvSpPr>
        <p:spPr>
          <a:xfrm>
            <a:off x="5943600" y="3264408"/>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Field staff</a:t>
            </a:r>
            <a:endParaRPr lang="en-US" sz="1050" dirty="0"/>
          </a:p>
        </p:txBody>
      </p:sp>
      <p:sp>
        <p:nvSpPr>
          <p:cNvPr id="26" name="Shape 24"/>
          <p:cNvSpPr/>
          <p:nvPr/>
        </p:nvSpPr>
        <p:spPr>
          <a:xfrm>
            <a:off x="8503920" y="3264408"/>
            <a:ext cx="2743200" cy="658368"/>
          </a:xfrm>
          <a:prstGeom prst="rect">
            <a:avLst/>
          </a:prstGeom>
          <a:solidFill>
            <a:srgbClr val="FEF6E6"/>
          </a:solidFill>
          <a:ln w="6350">
            <a:solidFill>
              <a:srgbClr val="D4D4D4"/>
            </a:solidFill>
            <a:prstDash val="solid"/>
          </a:ln>
        </p:spPr>
      </p:sp>
      <p:sp>
        <p:nvSpPr>
          <p:cNvPr id="27" name="Text 25"/>
          <p:cNvSpPr/>
          <p:nvPr/>
        </p:nvSpPr>
        <p:spPr>
          <a:xfrm>
            <a:off x="8595360" y="3264408"/>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Trained community agents</a:t>
            </a:r>
            <a:endParaRPr lang="en-US" sz="1050" dirty="0"/>
          </a:p>
        </p:txBody>
      </p:sp>
      <p:sp>
        <p:nvSpPr>
          <p:cNvPr id="28" name="Shape 26"/>
          <p:cNvSpPr/>
          <p:nvPr/>
        </p:nvSpPr>
        <p:spPr>
          <a:xfrm>
            <a:off x="640080" y="3922776"/>
            <a:ext cx="2560320" cy="658368"/>
          </a:xfrm>
          <a:prstGeom prst="rect">
            <a:avLst/>
          </a:prstGeom>
          <a:solidFill>
            <a:srgbClr val="FFFFFF"/>
          </a:solidFill>
          <a:ln w="6350">
            <a:solidFill>
              <a:srgbClr val="D4D4D4"/>
            </a:solidFill>
            <a:prstDash val="solid"/>
          </a:ln>
        </p:spPr>
      </p:sp>
      <p:sp>
        <p:nvSpPr>
          <p:cNvPr id="29" name="Text 27"/>
          <p:cNvSpPr/>
          <p:nvPr/>
        </p:nvSpPr>
        <p:spPr>
          <a:xfrm>
            <a:off x="731520" y="3922776"/>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Education-first</a:t>
            </a:r>
            <a:endParaRPr lang="en-US" sz="1050" dirty="0"/>
          </a:p>
        </p:txBody>
      </p:sp>
      <p:sp>
        <p:nvSpPr>
          <p:cNvPr id="30" name="Shape 28"/>
          <p:cNvSpPr/>
          <p:nvPr/>
        </p:nvSpPr>
        <p:spPr>
          <a:xfrm>
            <a:off x="3200400" y="3922776"/>
            <a:ext cx="2651760" cy="658368"/>
          </a:xfrm>
          <a:prstGeom prst="rect">
            <a:avLst/>
          </a:prstGeom>
          <a:solidFill>
            <a:srgbClr val="FFFFFF"/>
          </a:solidFill>
          <a:ln w="6350">
            <a:solidFill>
              <a:srgbClr val="D4D4D4"/>
            </a:solidFill>
            <a:prstDash val="solid"/>
          </a:ln>
        </p:spPr>
      </p:sp>
      <p:sp>
        <p:nvSpPr>
          <p:cNvPr id="31" name="Text 29"/>
          <p:cNvSpPr/>
          <p:nvPr/>
        </p:nvSpPr>
        <p:spPr>
          <a:xfrm>
            <a:off x="3291840" y="3922776"/>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32" name="Shape 30"/>
          <p:cNvSpPr/>
          <p:nvPr/>
        </p:nvSpPr>
        <p:spPr>
          <a:xfrm>
            <a:off x="5852160" y="3922776"/>
            <a:ext cx="2651760" cy="658368"/>
          </a:xfrm>
          <a:prstGeom prst="rect">
            <a:avLst/>
          </a:prstGeom>
          <a:solidFill>
            <a:srgbClr val="FFFFFF"/>
          </a:solidFill>
          <a:ln w="6350">
            <a:solidFill>
              <a:srgbClr val="D4D4D4"/>
            </a:solidFill>
            <a:prstDash val="solid"/>
          </a:ln>
        </p:spPr>
      </p:sp>
      <p:sp>
        <p:nvSpPr>
          <p:cNvPr id="33" name="Text 31"/>
          <p:cNvSpPr/>
          <p:nvPr/>
        </p:nvSpPr>
        <p:spPr>
          <a:xfrm>
            <a:off x="5943600" y="3922776"/>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Sometimes</a:t>
            </a:r>
            <a:endParaRPr lang="en-US" sz="1050" dirty="0"/>
          </a:p>
        </p:txBody>
      </p:sp>
      <p:sp>
        <p:nvSpPr>
          <p:cNvPr id="34" name="Shape 32"/>
          <p:cNvSpPr/>
          <p:nvPr/>
        </p:nvSpPr>
        <p:spPr>
          <a:xfrm>
            <a:off x="8503920" y="3922776"/>
            <a:ext cx="2743200" cy="658368"/>
          </a:xfrm>
          <a:prstGeom prst="rect">
            <a:avLst/>
          </a:prstGeom>
          <a:solidFill>
            <a:srgbClr val="FEF6E6"/>
          </a:solidFill>
          <a:ln w="6350">
            <a:solidFill>
              <a:srgbClr val="D4D4D4"/>
            </a:solidFill>
            <a:prstDash val="solid"/>
          </a:ln>
        </p:spPr>
      </p:sp>
      <p:sp>
        <p:nvSpPr>
          <p:cNvPr id="35" name="Text 33"/>
          <p:cNvSpPr/>
          <p:nvPr/>
        </p:nvSpPr>
        <p:spPr>
          <a:xfrm>
            <a:off x="8595360" y="3922776"/>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Always, before access</a:t>
            </a:r>
            <a:endParaRPr lang="en-US" sz="1050" dirty="0"/>
          </a:p>
        </p:txBody>
      </p:sp>
      <p:sp>
        <p:nvSpPr>
          <p:cNvPr id="36" name="Shape 34"/>
          <p:cNvSpPr/>
          <p:nvPr/>
        </p:nvSpPr>
        <p:spPr>
          <a:xfrm>
            <a:off x="640080" y="4581144"/>
            <a:ext cx="2560320" cy="658368"/>
          </a:xfrm>
          <a:prstGeom prst="rect">
            <a:avLst/>
          </a:prstGeom>
          <a:solidFill>
            <a:srgbClr val="FAF9F6"/>
          </a:solidFill>
          <a:ln w="6350">
            <a:solidFill>
              <a:srgbClr val="D4D4D4"/>
            </a:solidFill>
            <a:prstDash val="solid"/>
          </a:ln>
        </p:spPr>
      </p:sp>
      <p:sp>
        <p:nvSpPr>
          <p:cNvPr id="37" name="Text 35"/>
          <p:cNvSpPr/>
          <p:nvPr/>
        </p:nvSpPr>
        <p:spPr>
          <a:xfrm>
            <a:off x="731520" y="4581144"/>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Environmental pillar</a:t>
            </a:r>
            <a:endParaRPr lang="en-US" sz="1050" dirty="0"/>
          </a:p>
        </p:txBody>
      </p:sp>
      <p:sp>
        <p:nvSpPr>
          <p:cNvPr id="38" name="Shape 36"/>
          <p:cNvSpPr/>
          <p:nvPr/>
        </p:nvSpPr>
        <p:spPr>
          <a:xfrm>
            <a:off x="3200400" y="4581144"/>
            <a:ext cx="2651760" cy="658368"/>
          </a:xfrm>
          <a:prstGeom prst="rect">
            <a:avLst/>
          </a:prstGeom>
          <a:solidFill>
            <a:srgbClr val="FAF9F6"/>
          </a:solidFill>
          <a:ln w="6350">
            <a:solidFill>
              <a:srgbClr val="D4D4D4"/>
            </a:solidFill>
            <a:prstDash val="solid"/>
          </a:ln>
        </p:spPr>
      </p:sp>
      <p:sp>
        <p:nvSpPr>
          <p:cNvPr id="39" name="Text 37"/>
          <p:cNvSpPr/>
          <p:nvPr/>
        </p:nvSpPr>
        <p:spPr>
          <a:xfrm>
            <a:off x="3291840" y="4581144"/>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40" name="Shape 38"/>
          <p:cNvSpPr/>
          <p:nvPr/>
        </p:nvSpPr>
        <p:spPr>
          <a:xfrm>
            <a:off x="5852160" y="4581144"/>
            <a:ext cx="2651760" cy="658368"/>
          </a:xfrm>
          <a:prstGeom prst="rect">
            <a:avLst/>
          </a:prstGeom>
          <a:solidFill>
            <a:srgbClr val="FAF9F6"/>
          </a:solidFill>
          <a:ln w="6350">
            <a:solidFill>
              <a:srgbClr val="D4D4D4"/>
            </a:solidFill>
            <a:prstDash val="solid"/>
          </a:ln>
        </p:spPr>
      </p:sp>
      <p:sp>
        <p:nvSpPr>
          <p:cNvPr id="41" name="Text 39"/>
          <p:cNvSpPr/>
          <p:nvPr/>
        </p:nvSpPr>
        <p:spPr>
          <a:xfrm>
            <a:off x="5943600" y="4581144"/>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42" name="Shape 40"/>
          <p:cNvSpPr/>
          <p:nvPr/>
        </p:nvSpPr>
        <p:spPr>
          <a:xfrm>
            <a:off x="8503920" y="4581144"/>
            <a:ext cx="2743200" cy="658368"/>
          </a:xfrm>
          <a:prstGeom prst="rect">
            <a:avLst/>
          </a:prstGeom>
          <a:solidFill>
            <a:srgbClr val="FEF6E6"/>
          </a:solidFill>
          <a:ln w="6350">
            <a:solidFill>
              <a:srgbClr val="D4D4D4"/>
            </a:solidFill>
            <a:prstDash val="solid"/>
          </a:ln>
        </p:spPr>
      </p:sp>
      <p:sp>
        <p:nvSpPr>
          <p:cNvPr id="43" name="Text 41"/>
          <p:cNvSpPr/>
          <p:nvPr/>
        </p:nvSpPr>
        <p:spPr>
          <a:xfrm>
            <a:off x="8595360" y="4581144"/>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Permanent, verified</a:t>
            </a:r>
            <a:endParaRPr lang="en-US" sz="1050" dirty="0"/>
          </a:p>
        </p:txBody>
      </p:sp>
      <p:sp>
        <p:nvSpPr>
          <p:cNvPr id="44" name="Shape 42"/>
          <p:cNvSpPr/>
          <p:nvPr/>
        </p:nvSpPr>
        <p:spPr>
          <a:xfrm>
            <a:off x="640080" y="5239512"/>
            <a:ext cx="2560320" cy="658368"/>
          </a:xfrm>
          <a:prstGeom prst="rect">
            <a:avLst/>
          </a:prstGeom>
          <a:solidFill>
            <a:srgbClr val="FFFFFF"/>
          </a:solidFill>
          <a:ln w="6350">
            <a:solidFill>
              <a:srgbClr val="D4D4D4"/>
            </a:solidFill>
            <a:prstDash val="solid"/>
          </a:ln>
        </p:spPr>
      </p:sp>
      <p:sp>
        <p:nvSpPr>
          <p:cNvPr id="45" name="Text 43"/>
          <p:cNvSpPr/>
          <p:nvPr/>
        </p:nvSpPr>
        <p:spPr>
          <a:xfrm>
            <a:off x="731520" y="5239512"/>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Open source</a:t>
            </a:r>
            <a:endParaRPr lang="en-US" sz="1050" dirty="0"/>
          </a:p>
        </p:txBody>
      </p:sp>
      <p:sp>
        <p:nvSpPr>
          <p:cNvPr id="46" name="Shape 44"/>
          <p:cNvSpPr/>
          <p:nvPr/>
        </p:nvSpPr>
        <p:spPr>
          <a:xfrm>
            <a:off x="3200400" y="5239512"/>
            <a:ext cx="2651760" cy="658368"/>
          </a:xfrm>
          <a:prstGeom prst="rect">
            <a:avLst/>
          </a:prstGeom>
          <a:solidFill>
            <a:srgbClr val="FFFFFF"/>
          </a:solidFill>
          <a:ln w="6350">
            <a:solidFill>
              <a:srgbClr val="D4D4D4"/>
            </a:solidFill>
            <a:prstDash val="solid"/>
          </a:ln>
        </p:spPr>
      </p:sp>
      <p:sp>
        <p:nvSpPr>
          <p:cNvPr id="47" name="Text 45"/>
          <p:cNvSpPr/>
          <p:nvPr/>
        </p:nvSpPr>
        <p:spPr>
          <a:xfrm>
            <a:off x="3291840" y="5239512"/>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48" name="Shape 46"/>
          <p:cNvSpPr/>
          <p:nvPr/>
        </p:nvSpPr>
        <p:spPr>
          <a:xfrm>
            <a:off x="5852160" y="5239512"/>
            <a:ext cx="2651760" cy="658368"/>
          </a:xfrm>
          <a:prstGeom prst="rect">
            <a:avLst/>
          </a:prstGeom>
          <a:solidFill>
            <a:srgbClr val="FFFFFF"/>
          </a:solidFill>
          <a:ln w="6350">
            <a:solidFill>
              <a:srgbClr val="D4D4D4"/>
            </a:solidFill>
            <a:prstDash val="solid"/>
          </a:ln>
        </p:spPr>
      </p:sp>
      <p:sp>
        <p:nvSpPr>
          <p:cNvPr id="49" name="Text 47"/>
          <p:cNvSpPr/>
          <p:nvPr/>
        </p:nvSpPr>
        <p:spPr>
          <a:xfrm>
            <a:off x="5943600" y="5239512"/>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50" name="Shape 48"/>
          <p:cNvSpPr/>
          <p:nvPr/>
        </p:nvSpPr>
        <p:spPr>
          <a:xfrm>
            <a:off x="8503920" y="5239512"/>
            <a:ext cx="2743200" cy="658368"/>
          </a:xfrm>
          <a:prstGeom prst="rect">
            <a:avLst/>
          </a:prstGeom>
          <a:solidFill>
            <a:srgbClr val="FEF6E6"/>
          </a:solidFill>
          <a:ln w="6350">
            <a:solidFill>
              <a:srgbClr val="D4D4D4"/>
            </a:solidFill>
            <a:prstDash val="solid"/>
          </a:ln>
        </p:spPr>
      </p:sp>
      <p:sp>
        <p:nvSpPr>
          <p:cNvPr id="51" name="Text 49"/>
          <p:cNvSpPr/>
          <p:nvPr/>
        </p:nvSpPr>
        <p:spPr>
          <a:xfrm>
            <a:off x="8595360" y="5239512"/>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Fully (Apache 2.0)</a:t>
            </a:r>
            <a:endParaRPr lang="en-US" sz="1050" dirty="0"/>
          </a:p>
        </p:txBody>
      </p:sp>
      <p:sp>
        <p:nvSpPr>
          <p:cNvPr id="52" name="Text 5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53" name="Text 5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COMPETITIVE ADVANTAGES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What's structurally hard to copy</a:t>
            </a:r>
            <a:endParaRPr lang="en-US" sz="3600" dirty="0"/>
          </a:p>
        </p:txBody>
      </p:sp>
      <p:sp>
        <p:nvSpPr>
          <p:cNvPr id="4" name="Shape 2"/>
          <p:cNvSpPr/>
          <p:nvPr/>
        </p:nvSpPr>
        <p:spPr>
          <a:xfrm>
            <a:off x="640080" y="2011680"/>
            <a:ext cx="5212080" cy="1828800"/>
          </a:xfrm>
          <a:prstGeom prst="roundRect">
            <a:avLst>
              <a:gd name="adj" fmla="val 5000"/>
            </a:avLst>
          </a:prstGeom>
          <a:solidFill>
            <a:srgbClr val="101A30"/>
          </a:solidFill>
          <a:ln/>
        </p:spPr>
      </p:sp>
      <p:pic>
        <p:nvPicPr>
          <p:cNvPr id="5" name="Image 0" descr="./icons/check_F5A623.png">    </p:cNvPr>
          <p:cNvPicPr>
            <a:picLocks noChangeAspect="1"/>
          </p:cNvPicPr>
          <p:nvPr/>
        </p:nvPicPr>
        <p:blipFill>
          <a:blip r:embed="rId1"/>
          <a:stretch>
            <a:fillRect/>
          </a:stretch>
        </p:blipFill>
        <p:spPr>
          <a:xfrm>
            <a:off x="914400" y="2240280"/>
            <a:ext cx="365760" cy="365760"/>
          </a:xfrm>
          <a:prstGeom prst="rect">
            <a:avLst/>
          </a:prstGeom>
        </p:spPr>
      </p:pic>
      <p:sp>
        <p:nvSpPr>
          <p:cNvPr id="6" name="Text 3"/>
          <p:cNvSpPr/>
          <p:nvPr/>
        </p:nvSpPr>
        <p:spPr>
          <a:xfrm>
            <a:off x="1417320" y="219456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No-token credibility</a:t>
            </a:r>
            <a:endParaRPr lang="en-US" sz="1500" dirty="0"/>
          </a:p>
        </p:txBody>
      </p:sp>
      <p:sp>
        <p:nvSpPr>
          <p:cNvPr id="7" name="Text 4"/>
          <p:cNvSpPr/>
          <p:nvPr/>
        </p:nvSpPr>
        <p:spPr>
          <a:xfrm>
            <a:off x="960120" y="274320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A permanent, hard-to-reverse policy that removes the exact risk that has damaged trust across Web3-for-development efforts.</a:t>
            </a:r>
            <a:endParaRPr lang="en-US" sz="1200" dirty="0"/>
          </a:p>
        </p:txBody>
      </p:sp>
      <p:sp>
        <p:nvSpPr>
          <p:cNvPr id="8" name="Shape 5"/>
          <p:cNvSpPr/>
          <p:nvPr/>
        </p:nvSpPr>
        <p:spPr>
          <a:xfrm>
            <a:off x="6217920" y="2011680"/>
            <a:ext cx="5212080" cy="1828800"/>
          </a:xfrm>
          <a:prstGeom prst="roundRect">
            <a:avLst>
              <a:gd name="adj" fmla="val 5000"/>
            </a:avLst>
          </a:prstGeom>
          <a:solidFill>
            <a:srgbClr val="101A30"/>
          </a:solidFill>
          <a:ln/>
        </p:spPr>
      </p:sp>
      <p:pic>
        <p:nvPicPr>
          <p:cNvPr id="9" name="Image 1" descr="./icons/check_F5A623.png">    </p:cNvPr>
          <p:cNvPicPr>
            <a:picLocks noChangeAspect="1"/>
          </p:cNvPicPr>
          <p:nvPr/>
        </p:nvPicPr>
        <p:blipFill>
          <a:blip r:embed="rId2"/>
          <a:stretch>
            <a:fillRect/>
          </a:stretch>
        </p:blipFill>
        <p:spPr>
          <a:xfrm>
            <a:off x="6492240" y="2240280"/>
            <a:ext cx="365760" cy="365760"/>
          </a:xfrm>
          <a:prstGeom prst="rect">
            <a:avLst/>
          </a:prstGeom>
        </p:spPr>
      </p:pic>
      <p:sp>
        <p:nvSpPr>
          <p:cNvPr id="10" name="Text 6"/>
          <p:cNvSpPr/>
          <p:nvPr/>
        </p:nvSpPr>
        <p:spPr>
          <a:xfrm>
            <a:off x="6995160" y="219456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Human-first trust model</a:t>
            </a:r>
            <a:endParaRPr lang="en-US" sz="1500" dirty="0"/>
          </a:p>
        </p:txBody>
      </p:sp>
      <p:sp>
        <p:nvSpPr>
          <p:cNvPr id="11" name="Text 7"/>
          <p:cNvSpPr/>
          <p:nvPr/>
        </p:nvSpPr>
        <p:spPr>
          <a:xfrm>
            <a:off x="6537960" y="274320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The Agent Network solves the last-mile trust problem apps alone consistently fail to solve.</a:t>
            </a:r>
            <a:endParaRPr lang="en-US" sz="1200" dirty="0"/>
          </a:p>
        </p:txBody>
      </p:sp>
      <p:sp>
        <p:nvSpPr>
          <p:cNvPr id="12" name="Shape 8"/>
          <p:cNvSpPr/>
          <p:nvPr/>
        </p:nvSpPr>
        <p:spPr>
          <a:xfrm>
            <a:off x="640080" y="4114800"/>
            <a:ext cx="5212080" cy="1828800"/>
          </a:xfrm>
          <a:prstGeom prst="roundRect">
            <a:avLst>
              <a:gd name="adj" fmla="val 5000"/>
            </a:avLst>
          </a:prstGeom>
          <a:solidFill>
            <a:srgbClr val="101A30"/>
          </a:solidFill>
          <a:ln/>
        </p:spPr>
      </p:sp>
      <p:pic>
        <p:nvPicPr>
          <p:cNvPr id="13" name="Image 2" descr="./icons/check_F5A623.png">    </p:cNvPr>
          <p:cNvPicPr>
            <a:picLocks noChangeAspect="1"/>
          </p:cNvPicPr>
          <p:nvPr/>
        </p:nvPicPr>
        <p:blipFill>
          <a:blip r:embed="rId3"/>
          <a:stretch>
            <a:fillRect/>
          </a:stretch>
        </p:blipFill>
        <p:spPr>
          <a:xfrm>
            <a:off x="914400" y="4343400"/>
            <a:ext cx="365760" cy="365760"/>
          </a:xfrm>
          <a:prstGeom prst="rect">
            <a:avLst/>
          </a:prstGeom>
        </p:spPr>
      </p:pic>
      <p:sp>
        <p:nvSpPr>
          <p:cNvPr id="14" name="Text 9"/>
          <p:cNvSpPr/>
          <p:nvPr/>
        </p:nvSpPr>
        <p:spPr>
          <a:xfrm>
            <a:off x="1417320" y="429768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Radical transparency</a:t>
            </a:r>
            <a:endParaRPr lang="en-US" sz="1500" dirty="0"/>
          </a:p>
        </p:txBody>
      </p:sp>
      <p:sp>
        <p:nvSpPr>
          <p:cNvPr id="15" name="Text 10"/>
          <p:cNvSpPr/>
          <p:nvPr/>
        </p:nvSpPr>
        <p:spPr>
          <a:xfrm>
            <a:off x="960120" y="484632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Governance, funding, and even unfavorable findings are published openly — not a claim, a structural commitment.</a:t>
            </a:r>
            <a:endParaRPr lang="en-US" sz="1200" dirty="0"/>
          </a:p>
        </p:txBody>
      </p:sp>
      <p:sp>
        <p:nvSpPr>
          <p:cNvPr id="16" name="Shape 11"/>
          <p:cNvSpPr/>
          <p:nvPr/>
        </p:nvSpPr>
        <p:spPr>
          <a:xfrm>
            <a:off x="6217920" y="4114800"/>
            <a:ext cx="5212080" cy="1828800"/>
          </a:xfrm>
          <a:prstGeom prst="roundRect">
            <a:avLst>
              <a:gd name="adj" fmla="val 5000"/>
            </a:avLst>
          </a:prstGeom>
          <a:solidFill>
            <a:srgbClr val="101A30"/>
          </a:solidFill>
          <a:ln/>
        </p:spPr>
      </p:sp>
      <p:pic>
        <p:nvPicPr>
          <p:cNvPr id="17" name="Image 3" descr="./icons/check_F5A623.png">    </p:cNvPr>
          <p:cNvPicPr>
            <a:picLocks noChangeAspect="1"/>
          </p:cNvPicPr>
          <p:nvPr/>
        </p:nvPicPr>
        <p:blipFill>
          <a:blip r:embed="rId4"/>
          <a:stretch>
            <a:fillRect/>
          </a:stretch>
        </p:blipFill>
        <p:spPr>
          <a:xfrm>
            <a:off x="6492240" y="4343400"/>
            <a:ext cx="365760" cy="365760"/>
          </a:xfrm>
          <a:prstGeom prst="rect">
            <a:avLst/>
          </a:prstGeom>
        </p:spPr>
      </p:pic>
      <p:sp>
        <p:nvSpPr>
          <p:cNvPr id="18" name="Text 12"/>
          <p:cNvSpPr/>
          <p:nvPr/>
        </p:nvSpPr>
        <p:spPr>
          <a:xfrm>
            <a:off x="6995160" y="429768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Language-native education</a:t>
            </a:r>
            <a:endParaRPr lang="en-US" sz="1500" dirty="0"/>
          </a:p>
        </p:txBody>
      </p:sp>
      <p:sp>
        <p:nvSpPr>
          <p:cNvPr id="19" name="Text 13"/>
          <p:cNvSpPr/>
          <p:nvPr/>
        </p:nvSpPr>
        <p:spPr>
          <a:xfrm>
            <a:off x="6537960" y="484632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Haitian Creole-first content, not translated as an afterthought — most competitors default to English or French.</a:t>
            </a:r>
            <a:endParaRPr lang="en-US" sz="1200" dirty="0"/>
          </a:p>
        </p:txBody>
      </p:sp>
      <p:sp>
        <p:nvSpPr>
          <p:cNvPr id="20"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21"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GO-TO-MARKET STRATEGY</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Validate small, expand deliberately</a:t>
            </a:r>
            <a:endParaRPr lang="en-US" sz="3600" dirty="0"/>
          </a:p>
        </p:txBody>
      </p:sp>
      <p:sp>
        <p:nvSpPr>
          <p:cNvPr id="4" name="Shape 2"/>
          <p:cNvSpPr/>
          <p:nvPr/>
        </p:nvSpPr>
        <p:spPr>
          <a:xfrm>
            <a:off x="640080" y="2103120"/>
            <a:ext cx="2560320" cy="3566160"/>
          </a:xfrm>
          <a:prstGeom prst="roundRect">
            <a:avLst>
              <a:gd name="adj" fmla="val 3571"/>
            </a:avLst>
          </a:prstGeom>
          <a:solidFill>
            <a:srgbClr val="FAF9F6"/>
          </a:solidFill>
          <a:ln/>
        </p:spPr>
      </p:sp>
      <p:sp>
        <p:nvSpPr>
          <p:cNvPr id="5" name="Text 3"/>
          <p:cNvSpPr/>
          <p:nvPr/>
        </p:nvSpPr>
        <p:spPr>
          <a:xfrm>
            <a:off x="86868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01</a:t>
            </a:r>
            <a:endParaRPr lang="en-US" sz="2600" dirty="0"/>
          </a:p>
        </p:txBody>
      </p:sp>
      <p:sp>
        <p:nvSpPr>
          <p:cNvPr id="6" name="Text 4"/>
          <p:cNvSpPr/>
          <p:nvPr/>
        </p:nvSpPr>
        <p:spPr>
          <a:xfrm>
            <a:off x="868680" y="2880360"/>
            <a:ext cx="2103120" cy="4114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Pilot</a:t>
            </a:r>
            <a:endParaRPr lang="en-US" sz="1500" dirty="0"/>
          </a:p>
        </p:txBody>
      </p:sp>
      <p:sp>
        <p:nvSpPr>
          <p:cNvPr id="7" name="Text 5"/>
          <p:cNvSpPr/>
          <p:nvPr/>
        </p:nvSpPr>
        <p:spPr>
          <a:xfrm>
            <a:off x="86868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Léogâne, single community — prove the full model end-to-end before spending on expansion.</a:t>
            </a:r>
            <a:endParaRPr lang="en-US" sz="1150" dirty="0"/>
          </a:p>
        </p:txBody>
      </p:sp>
      <p:sp>
        <p:nvSpPr>
          <p:cNvPr id="8" name="Shape 6"/>
          <p:cNvSpPr/>
          <p:nvPr/>
        </p:nvSpPr>
        <p:spPr>
          <a:xfrm>
            <a:off x="3429000" y="2103120"/>
            <a:ext cx="2560320" cy="3566160"/>
          </a:xfrm>
          <a:prstGeom prst="roundRect">
            <a:avLst>
              <a:gd name="adj" fmla="val 3571"/>
            </a:avLst>
          </a:prstGeom>
          <a:solidFill>
            <a:srgbClr val="1B2A4A"/>
          </a:solidFill>
          <a:ln/>
        </p:spPr>
      </p:sp>
      <p:sp>
        <p:nvSpPr>
          <p:cNvPr id="9" name="Text 7"/>
          <p:cNvSpPr/>
          <p:nvPr/>
        </p:nvSpPr>
        <p:spPr>
          <a:xfrm>
            <a:off x="365760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02</a:t>
            </a:r>
            <a:endParaRPr lang="en-US" sz="2600" dirty="0"/>
          </a:p>
        </p:txBody>
      </p:sp>
      <p:sp>
        <p:nvSpPr>
          <p:cNvPr id="10" name="Text 8"/>
          <p:cNvSpPr/>
          <p:nvPr/>
        </p:nvSpPr>
        <p:spPr>
          <a:xfrm>
            <a:off x="3657600" y="2880360"/>
            <a:ext cx="210312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Validate</a:t>
            </a:r>
            <a:endParaRPr lang="en-US" sz="1500" dirty="0"/>
          </a:p>
        </p:txBody>
      </p:sp>
      <p:sp>
        <p:nvSpPr>
          <p:cNvPr id="11" name="Text 9"/>
          <p:cNvSpPr/>
          <p:nvPr/>
        </p:nvSpPr>
        <p:spPr>
          <a:xfrm>
            <a:off x="365760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D4D4D4"/>
                </a:solidFill>
                <a:latin typeface="Calibri" pitchFamily="34" charset="0"/>
                <a:ea typeface="Calibri" pitchFamily="34" charset="-122"/>
                <a:cs typeface="Calibri" pitchFamily="34" charset="-120"/>
              </a:rPr>
              <a:t>First complete agent-mediated transaction cycle, first reforestation cohort, structured feedback loop.</a:t>
            </a:r>
            <a:endParaRPr lang="en-US" sz="1150" dirty="0"/>
          </a:p>
        </p:txBody>
      </p:sp>
      <p:sp>
        <p:nvSpPr>
          <p:cNvPr id="12" name="Shape 10"/>
          <p:cNvSpPr/>
          <p:nvPr/>
        </p:nvSpPr>
        <p:spPr>
          <a:xfrm>
            <a:off x="6217920" y="2103120"/>
            <a:ext cx="2560320" cy="3566160"/>
          </a:xfrm>
          <a:prstGeom prst="roundRect">
            <a:avLst>
              <a:gd name="adj" fmla="val 3571"/>
            </a:avLst>
          </a:prstGeom>
          <a:solidFill>
            <a:srgbClr val="FAF9F6"/>
          </a:solidFill>
          <a:ln/>
        </p:spPr>
      </p:sp>
      <p:sp>
        <p:nvSpPr>
          <p:cNvPr id="13" name="Text 11"/>
          <p:cNvSpPr/>
          <p:nvPr/>
        </p:nvSpPr>
        <p:spPr>
          <a:xfrm>
            <a:off x="644652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03</a:t>
            </a:r>
            <a:endParaRPr lang="en-US" sz="2600" dirty="0"/>
          </a:p>
        </p:txBody>
      </p:sp>
      <p:sp>
        <p:nvSpPr>
          <p:cNvPr id="14" name="Text 12"/>
          <p:cNvSpPr/>
          <p:nvPr/>
        </p:nvSpPr>
        <p:spPr>
          <a:xfrm>
            <a:off x="6446520" y="2880360"/>
            <a:ext cx="2103120" cy="4114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Expand</a:t>
            </a:r>
            <a:endParaRPr lang="en-US" sz="1500" dirty="0"/>
          </a:p>
        </p:txBody>
      </p:sp>
      <p:sp>
        <p:nvSpPr>
          <p:cNvPr id="15" name="Text 13"/>
          <p:cNvSpPr/>
          <p:nvPr/>
        </p:nvSpPr>
        <p:spPr>
          <a:xfrm>
            <a:off x="644652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Multi-department growth within Haiti, Spanish-language curriculum, dApp public beta.</a:t>
            </a:r>
            <a:endParaRPr lang="en-US" sz="1150" dirty="0"/>
          </a:p>
        </p:txBody>
      </p:sp>
      <p:sp>
        <p:nvSpPr>
          <p:cNvPr id="16" name="Shape 14"/>
          <p:cNvSpPr/>
          <p:nvPr/>
        </p:nvSpPr>
        <p:spPr>
          <a:xfrm>
            <a:off x="9006840" y="2103120"/>
            <a:ext cx="2560320" cy="3566160"/>
          </a:xfrm>
          <a:prstGeom prst="roundRect">
            <a:avLst>
              <a:gd name="adj" fmla="val 3571"/>
            </a:avLst>
          </a:prstGeom>
          <a:solidFill>
            <a:srgbClr val="1B2A4A"/>
          </a:solidFill>
          <a:ln/>
        </p:spPr>
      </p:sp>
      <p:sp>
        <p:nvSpPr>
          <p:cNvPr id="17" name="Text 15"/>
          <p:cNvSpPr/>
          <p:nvPr/>
        </p:nvSpPr>
        <p:spPr>
          <a:xfrm>
            <a:off x="923544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04</a:t>
            </a:r>
            <a:endParaRPr lang="en-US" sz="2600" dirty="0"/>
          </a:p>
        </p:txBody>
      </p:sp>
      <p:sp>
        <p:nvSpPr>
          <p:cNvPr id="18" name="Text 16"/>
          <p:cNvSpPr/>
          <p:nvPr/>
        </p:nvSpPr>
        <p:spPr>
          <a:xfrm>
            <a:off x="9235440" y="2880360"/>
            <a:ext cx="210312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Mature</a:t>
            </a:r>
            <a:endParaRPr lang="en-US" sz="1500" dirty="0"/>
          </a:p>
        </p:txBody>
      </p:sp>
      <p:sp>
        <p:nvSpPr>
          <p:cNvPr id="19" name="Text 17"/>
          <p:cNvSpPr/>
          <p:nvPr/>
        </p:nvSpPr>
        <p:spPr>
          <a:xfrm>
            <a:off x="923544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D4D4D4"/>
                </a:solidFill>
                <a:latin typeface="Calibri" pitchFamily="34" charset="0"/>
                <a:ea typeface="Calibri" pitchFamily="34" charset="-122"/>
                <a:cs typeface="Calibri" pitchFamily="34" charset="-120"/>
              </a:rPr>
              <a:t>Governance decentralization, fee-based sustainability, regional replication playbook.</a:t>
            </a:r>
            <a:endParaRPr lang="en-US" sz="115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1"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TRACTION &amp; KPIS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Where we are, honestly</a:t>
            </a:r>
            <a:endParaRPr lang="en-US" sz="3600" dirty="0"/>
          </a:p>
        </p:txBody>
      </p:sp>
      <p:sp>
        <p:nvSpPr>
          <p:cNvPr id="4" name="Shape 2"/>
          <p:cNvSpPr/>
          <p:nvPr/>
        </p:nvSpPr>
        <p:spPr>
          <a:xfrm>
            <a:off x="640080" y="1920240"/>
            <a:ext cx="10881360" cy="594360"/>
          </a:xfrm>
          <a:prstGeom prst="roundRect">
            <a:avLst>
              <a:gd name="adj" fmla="val 12308"/>
            </a:avLst>
          </a:prstGeom>
          <a:solidFill>
            <a:srgbClr val="FDEDED"/>
          </a:solidFill>
          <a:ln/>
        </p:spPr>
      </p:sp>
      <p:sp>
        <p:nvSpPr>
          <p:cNvPr id="5" name="Text 3"/>
          <p:cNvSpPr/>
          <p:nvPr/>
        </p:nvSpPr>
        <p:spPr>
          <a:xfrm>
            <a:off x="914400" y="1993392"/>
            <a:ext cx="10332720" cy="457200"/>
          </a:xfrm>
          <a:prstGeom prst="rect">
            <a:avLst/>
          </a:prstGeom>
          <a:noFill/>
          <a:ln/>
        </p:spPr>
        <p:txBody>
          <a:bodyPr wrap="square" lIns="0" tIns="0" rIns="0" bIns="0" rtlCol="0" anchor="ctr"/>
          <a:lstStyle/>
          <a:p>
            <a:pPr indent="0" marL="0">
              <a:buNone/>
            </a:pPr>
            <a:r>
              <a:rPr lang="en-US" sz="1250" i="1" dirty="0">
                <a:solidFill>
                  <a:srgbClr val="C0392B"/>
                </a:solidFill>
                <a:latin typeface="Calibri" pitchFamily="34" charset="0"/>
                <a:ea typeface="Calibri" pitchFamily="34" charset="-122"/>
                <a:cs typeface="Calibri" pitchFamily="34" charset="-120"/>
              </a:rPr>
              <a:t>CeloHT is early-stage. The figures below are Phase 1 status and near-term targets — not multi-year historical performance.</a:t>
            </a:r>
            <a:endParaRPr lang="en-US" sz="1250" dirty="0"/>
          </a:p>
        </p:txBody>
      </p:sp>
      <p:sp>
        <p:nvSpPr>
          <p:cNvPr id="6" name="Shape 4"/>
          <p:cNvSpPr/>
          <p:nvPr/>
        </p:nvSpPr>
        <p:spPr>
          <a:xfrm>
            <a:off x="640080" y="2834640"/>
            <a:ext cx="10881360" cy="621792"/>
          </a:xfrm>
          <a:prstGeom prst="roundRect">
            <a:avLst>
              <a:gd name="adj" fmla="val 8824"/>
            </a:avLst>
          </a:prstGeom>
          <a:solidFill>
            <a:srgbClr val="FAF9F6"/>
          </a:solidFill>
          <a:ln/>
        </p:spPr>
      </p:sp>
      <p:sp>
        <p:nvSpPr>
          <p:cNvPr id="7" name="Text 5"/>
          <p:cNvSpPr/>
          <p:nvPr/>
        </p:nvSpPr>
        <p:spPr>
          <a:xfrm>
            <a:off x="914400" y="283464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Flagship documentation</a:t>
            </a:r>
            <a:endParaRPr lang="en-US" sz="1300" dirty="0"/>
          </a:p>
        </p:txBody>
      </p:sp>
      <p:sp>
        <p:nvSpPr>
          <p:cNvPr id="8" name="Text 6"/>
          <p:cNvSpPr/>
          <p:nvPr/>
        </p:nvSpPr>
        <p:spPr>
          <a:xfrm>
            <a:off x="5577840" y="283464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Published</a:t>
            </a:r>
            <a:endParaRPr lang="en-US" sz="1250" dirty="0"/>
          </a:p>
        </p:txBody>
      </p:sp>
      <p:sp>
        <p:nvSpPr>
          <p:cNvPr id="9" name="Text 7"/>
          <p:cNvSpPr/>
          <p:nvPr/>
        </p:nvSpPr>
        <p:spPr>
          <a:xfrm>
            <a:off x="9326880" y="283464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Done</a:t>
            </a:r>
            <a:endParaRPr lang="en-US" sz="1250" dirty="0"/>
          </a:p>
        </p:txBody>
      </p:sp>
      <p:sp>
        <p:nvSpPr>
          <p:cNvPr id="10" name="Shape 8"/>
          <p:cNvSpPr/>
          <p:nvPr/>
        </p:nvSpPr>
        <p:spPr>
          <a:xfrm>
            <a:off x="640080" y="3566160"/>
            <a:ext cx="10881360" cy="621792"/>
          </a:xfrm>
          <a:prstGeom prst="roundRect">
            <a:avLst>
              <a:gd name="adj" fmla="val 8824"/>
            </a:avLst>
          </a:prstGeom>
          <a:solidFill>
            <a:srgbClr val="FAF9F6"/>
          </a:solidFill>
          <a:ln/>
        </p:spPr>
      </p:sp>
      <p:sp>
        <p:nvSpPr>
          <p:cNvPr id="11" name="Text 9"/>
          <p:cNvSpPr/>
          <p:nvPr/>
        </p:nvSpPr>
        <p:spPr>
          <a:xfrm>
            <a:off x="914400" y="356616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First agent cohort (Léogâne)</a:t>
            </a:r>
            <a:endParaRPr lang="en-US" sz="1300" dirty="0"/>
          </a:p>
        </p:txBody>
      </p:sp>
      <p:sp>
        <p:nvSpPr>
          <p:cNvPr id="12" name="Text 10"/>
          <p:cNvSpPr/>
          <p:nvPr/>
        </p:nvSpPr>
        <p:spPr>
          <a:xfrm>
            <a:off x="5577840" y="356616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3–5 trained agents</a:t>
            </a:r>
            <a:endParaRPr lang="en-US" sz="1250" dirty="0"/>
          </a:p>
        </p:txBody>
      </p:sp>
      <p:sp>
        <p:nvSpPr>
          <p:cNvPr id="13" name="Text 11"/>
          <p:cNvSpPr/>
          <p:nvPr/>
        </p:nvSpPr>
        <p:spPr>
          <a:xfrm>
            <a:off x="9326880" y="356616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In progress</a:t>
            </a:r>
            <a:endParaRPr lang="en-US" sz="1250" dirty="0"/>
          </a:p>
        </p:txBody>
      </p:sp>
      <p:sp>
        <p:nvSpPr>
          <p:cNvPr id="14" name="Shape 12"/>
          <p:cNvSpPr/>
          <p:nvPr/>
        </p:nvSpPr>
        <p:spPr>
          <a:xfrm>
            <a:off x="640080" y="4297680"/>
            <a:ext cx="10881360" cy="621792"/>
          </a:xfrm>
          <a:prstGeom prst="roundRect">
            <a:avLst>
              <a:gd name="adj" fmla="val 8824"/>
            </a:avLst>
          </a:prstGeom>
          <a:solidFill>
            <a:srgbClr val="FAF9F6"/>
          </a:solidFill>
          <a:ln/>
        </p:spPr>
      </p:sp>
      <p:sp>
        <p:nvSpPr>
          <p:cNvPr id="15" name="Text 13"/>
          <p:cNvSpPr/>
          <p:nvPr/>
        </p:nvSpPr>
        <p:spPr>
          <a:xfrm>
            <a:off x="914400" y="429768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First grants / partnerships</a:t>
            </a:r>
            <a:endParaRPr lang="en-US" sz="1300" dirty="0"/>
          </a:p>
        </p:txBody>
      </p:sp>
      <p:sp>
        <p:nvSpPr>
          <p:cNvPr id="16" name="Text 14"/>
          <p:cNvSpPr/>
          <p:nvPr/>
        </p:nvSpPr>
        <p:spPr>
          <a:xfrm>
            <a:off x="5577840" y="429768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 1 signed agreement</a:t>
            </a:r>
            <a:endParaRPr lang="en-US" sz="1250" dirty="0"/>
          </a:p>
        </p:txBody>
      </p:sp>
      <p:sp>
        <p:nvSpPr>
          <p:cNvPr id="17" name="Text 15"/>
          <p:cNvSpPr/>
          <p:nvPr/>
        </p:nvSpPr>
        <p:spPr>
          <a:xfrm>
            <a:off x="9326880" y="429768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In progress</a:t>
            </a:r>
            <a:endParaRPr lang="en-US" sz="1250" dirty="0"/>
          </a:p>
        </p:txBody>
      </p:sp>
      <p:sp>
        <p:nvSpPr>
          <p:cNvPr id="18" name="Shape 16"/>
          <p:cNvSpPr/>
          <p:nvPr/>
        </p:nvSpPr>
        <p:spPr>
          <a:xfrm>
            <a:off x="640080" y="5029200"/>
            <a:ext cx="10881360" cy="621792"/>
          </a:xfrm>
          <a:prstGeom prst="roundRect">
            <a:avLst>
              <a:gd name="adj" fmla="val 8824"/>
            </a:avLst>
          </a:prstGeom>
          <a:solidFill>
            <a:srgbClr val="FAF9F6"/>
          </a:solidFill>
          <a:ln/>
        </p:spPr>
      </p:sp>
      <p:sp>
        <p:nvSpPr>
          <p:cNvPr id="19" name="Text 17"/>
          <p:cNvSpPr/>
          <p:nvPr/>
        </p:nvSpPr>
        <p:spPr>
          <a:xfrm>
            <a:off x="914400" y="502920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Reforestation pilot site</a:t>
            </a:r>
            <a:endParaRPr lang="en-US" sz="1300" dirty="0"/>
          </a:p>
        </p:txBody>
      </p:sp>
      <p:sp>
        <p:nvSpPr>
          <p:cNvPr id="20" name="Text 18"/>
          <p:cNvSpPr/>
          <p:nvPr/>
        </p:nvSpPr>
        <p:spPr>
          <a:xfrm>
            <a:off x="5577840" y="502920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Defined, partnered</a:t>
            </a:r>
            <a:endParaRPr lang="en-US" sz="1250" dirty="0"/>
          </a:p>
        </p:txBody>
      </p:sp>
      <p:sp>
        <p:nvSpPr>
          <p:cNvPr id="21" name="Text 19"/>
          <p:cNvSpPr/>
          <p:nvPr/>
        </p:nvSpPr>
        <p:spPr>
          <a:xfrm>
            <a:off x="9326880" y="502920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Planned, 2026 Q3</a:t>
            </a:r>
            <a:endParaRPr lang="en-US" sz="1250" dirty="0"/>
          </a:p>
        </p:txBody>
      </p:sp>
      <p:sp>
        <p:nvSpPr>
          <p:cNvPr id="22" name="Shape 20"/>
          <p:cNvSpPr/>
          <p:nvPr/>
        </p:nvSpPr>
        <p:spPr>
          <a:xfrm>
            <a:off x="640080" y="5760720"/>
            <a:ext cx="10881360" cy="621792"/>
          </a:xfrm>
          <a:prstGeom prst="roundRect">
            <a:avLst>
              <a:gd name="adj" fmla="val 8824"/>
            </a:avLst>
          </a:prstGeom>
          <a:solidFill>
            <a:srgbClr val="FAF9F6"/>
          </a:solidFill>
          <a:ln/>
        </p:spPr>
      </p:sp>
      <p:sp>
        <p:nvSpPr>
          <p:cNvPr id="23" name="Text 21"/>
          <p:cNvSpPr/>
          <p:nvPr/>
        </p:nvSpPr>
        <p:spPr>
          <a:xfrm>
            <a:off x="914400" y="576072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dApp alpha</a:t>
            </a:r>
            <a:endParaRPr lang="en-US" sz="1300" dirty="0"/>
          </a:p>
        </p:txBody>
      </p:sp>
      <p:sp>
        <p:nvSpPr>
          <p:cNvPr id="24" name="Text 22"/>
          <p:cNvSpPr/>
          <p:nvPr/>
        </p:nvSpPr>
        <p:spPr>
          <a:xfrm>
            <a:off x="5577840" y="576072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Wallet + 1 education module</a:t>
            </a:r>
            <a:endParaRPr lang="en-US" sz="1250" dirty="0"/>
          </a:p>
        </p:txBody>
      </p:sp>
      <p:sp>
        <p:nvSpPr>
          <p:cNvPr id="25" name="Text 23"/>
          <p:cNvSpPr/>
          <p:nvPr/>
        </p:nvSpPr>
        <p:spPr>
          <a:xfrm>
            <a:off x="9326880" y="576072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Planned, 2027 Q1</a:t>
            </a:r>
            <a:endParaRPr lang="en-US" sz="12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7" name="Text 2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2B6CB0"/>
                </a:solidFill>
                <a:latin typeface="Calibri" pitchFamily="34" charset="0"/>
                <a:ea typeface="Calibri" pitchFamily="34" charset="-122"/>
                <a:cs typeface="Calibri" pitchFamily="34" charset="-120"/>
              </a:rPr>
              <a:t>FINANCIAL PROJECTIONS (ILLUSTRATIVE)</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 planning model, not a track record</a:t>
            </a:r>
            <a:endParaRPr lang="en-US" sz="3600" dirty="0"/>
          </a:p>
        </p:txBody>
      </p:sp>
      <p:sp>
        <p:nvSpPr>
          <p:cNvPr id="4" name="Text 2"/>
          <p:cNvSpPr/>
          <p:nvPr/>
        </p:nvSpPr>
        <p:spPr>
          <a:xfrm>
            <a:off x="640080" y="1691640"/>
            <a:ext cx="10881360" cy="502920"/>
          </a:xfrm>
          <a:prstGeom prst="rect">
            <a:avLst/>
          </a:prstGeom>
          <a:noFill/>
          <a:ln/>
        </p:spPr>
        <p:txBody>
          <a:bodyPr wrap="square" lIns="0" tIns="0" rIns="0" bIns="0" rtlCol="0" anchor="ctr"/>
          <a:lstStyle/>
          <a:p>
            <a:pPr indent="0" marL="0">
              <a:buNone/>
            </a:pPr>
            <a:r>
              <a:rPr lang="en-US" sz="1250" i="1" dirty="0">
                <a:solidFill>
                  <a:srgbClr val="4A5568"/>
                </a:solidFill>
                <a:latin typeface="Calibri" pitchFamily="34" charset="0"/>
                <a:ea typeface="Calibri" pitchFamily="34" charset="-122"/>
                <a:cs typeface="Calibri" pitchFamily="34" charset="-120"/>
              </a:rPr>
              <a:t>These are planning assumptions for internal and funder discussion — not audited or historical figures. See the companion financial model workbook for full, editable detail.</a:t>
            </a:r>
            <a:endParaRPr lang="en-US" sz="1250" dirty="0"/>
          </a:p>
        </p:txBody>
      </p:sp>
      <p:graphicFrame>
        <p:nvGraphicFramePr>
          <p:cNvPr id="5" name="Chart 0" descr=""/>
          <p:cNvGraphicFramePr/>
          <p:nvPr/>
        </p:nvGraphicFramePr>
        <p:xfrm>
          <a:off x="640080" y="2331720"/>
          <a:ext cx="6035040" cy="3749040"/>
        </p:xfrm>
        <a:graphic xmlns:a="http://schemas.openxmlformats.org/drawingml/2006/main">
          <a:graphicData uri="http://schemas.openxmlformats.org/drawingml/2006/chart">
            <c:chart xmlns:c="http://schemas.openxmlformats.org/drawingml/2006/chart" r:id="rId1"/>
          </a:graphicData>
        </a:graphic>
      </p:graphicFrame>
      <p:pic>
        <p:nvPicPr>
          <p:cNvPr id="6" name="Image 0" descr="./icons/check_1B2A4A.png">    </p:cNvPr>
          <p:cNvPicPr>
            <a:picLocks noChangeAspect="1"/>
          </p:cNvPicPr>
          <p:nvPr/>
        </p:nvPicPr>
        <p:blipFill>
          <a:blip r:embed="rId2"/>
          <a:stretch>
            <a:fillRect/>
          </a:stretch>
        </p:blipFill>
        <p:spPr>
          <a:xfrm>
            <a:off x="6903720" y="2423160"/>
            <a:ext cx="292608" cy="292608"/>
          </a:xfrm>
          <a:prstGeom prst="rect">
            <a:avLst/>
          </a:prstGeom>
        </p:spPr>
      </p:pic>
      <p:sp>
        <p:nvSpPr>
          <p:cNvPr id="7" name="Text 3"/>
          <p:cNvSpPr/>
          <p:nvPr/>
        </p:nvSpPr>
        <p:spPr>
          <a:xfrm>
            <a:off x="7315200" y="237744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Grant revenue grows as partnerships (Celo ecosystem, NGOs) compound year over year</a:t>
            </a:r>
            <a:endParaRPr lang="en-US" sz="1150" dirty="0"/>
          </a:p>
        </p:txBody>
      </p:sp>
      <p:pic>
        <p:nvPicPr>
          <p:cNvPr id="8" name="Image 1" descr="./icons/check_1B2A4A.png">    </p:cNvPr>
          <p:cNvPicPr>
            <a:picLocks noChangeAspect="1"/>
          </p:cNvPicPr>
          <p:nvPr/>
        </p:nvPicPr>
        <p:blipFill>
          <a:blip r:embed="rId3"/>
          <a:stretch>
            <a:fillRect/>
          </a:stretch>
        </p:blipFill>
        <p:spPr>
          <a:xfrm>
            <a:off x="6903720" y="3291840"/>
            <a:ext cx="292608" cy="292608"/>
          </a:xfrm>
          <a:prstGeom prst="rect">
            <a:avLst/>
          </a:prstGeom>
        </p:spPr>
      </p:pic>
      <p:sp>
        <p:nvSpPr>
          <p:cNvPr id="9" name="Text 4"/>
          <p:cNvSpPr/>
          <p:nvPr/>
        </p:nvSpPr>
        <p:spPr>
          <a:xfrm>
            <a:off x="7315200" y="324612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Agent fee revenue begins only in Phase 3 (2027) per the published roadmap</a:t>
            </a:r>
            <a:endParaRPr lang="en-US" sz="1150" dirty="0"/>
          </a:p>
        </p:txBody>
      </p:sp>
      <p:pic>
        <p:nvPicPr>
          <p:cNvPr id="10" name="Image 2" descr="./icons/check_1B2A4A.png">    </p:cNvPr>
          <p:cNvPicPr>
            <a:picLocks noChangeAspect="1"/>
          </p:cNvPicPr>
          <p:nvPr/>
        </p:nvPicPr>
        <p:blipFill>
          <a:blip r:embed="rId4"/>
          <a:stretch>
            <a:fillRect/>
          </a:stretch>
        </p:blipFill>
        <p:spPr>
          <a:xfrm>
            <a:off x="6903720" y="4160520"/>
            <a:ext cx="292608" cy="292608"/>
          </a:xfrm>
          <a:prstGeom prst="rect">
            <a:avLst/>
          </a:prstGeom>
        </p:spPr>
      </p:pic>
      <p:sp>
        <p:nvSpPr>
          <p:cNvPr id="11" name="Text 5"/>
          <p:cNvSpPr/>
          <p:nvPr/>
        </p:nvSpPr>
        <p:spPr>
          <a:xfrm>
            <a:off x="7315200" y="411480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No revenue assumption relies on token appreciation, speculation, or any financial instrument</a:t>
            </a:r>
            <a:endParaRPr lang="en-US" sz="1150" dirty="0"/>
          </a:p>
        </p:txBody>
      </p:sp>
      <p:pic>
        <p:nvPicPr>
          <p:cNvPr id="12" name="Image 3" descr="./icons/check_1B2A4A.png">    </p:cNvPr>
          <p:cNvPicPr>
            <a:picLocks noChangeAspect="1"/>
          </p:cNvPicPr>
          <p:nvPr/>
        </p:nvPicPr>
        <p:blipFill>
          <a:blip r:embed="rId5"/>
          <a:stretch>
            <a:fillRect/>
          </a:stretch>
        </p:blipFill>
        <p:spPr>
          <a:xfrm>
            <a:off x="6903720" y="5029200"/>
            <a:ext cx="292608" cy="292608"/>
          </a:xfrm>
          <a:prstGeom prst="rect">
            <a:avLst/>
          </a:prstGeom>
        </p:spPr>
      </p:pic>
      <p:sp>
        <p:nvSpPr>
          <p:cNvPr id="13" name="Text 6"/>
          <p:cNvSpPr/>
          <p:nvPr/>
        </p:nvSpPr>
        <p:spPr>
          <a:xfrm>
            <a:off x="7315200" y="498348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Full editable model (revenue, expenses, cash flow, break-even) provided as a companion workbook</a:t>
            </a:r>
            <a:endParaRPr lang="en-US" sz="1150" dirty="0"/>
          </a:p>
        </p:txBody>
      </p:sp>
      <p:sp>
        <p:nvSpPr>
          <p:cNvPr id="14" name="Text 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5" name="Text 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FUNDING REQUEST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Seeking grant and partnership funding —</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not equity or token investment</a:t>
            </a:r>
            <a:endParaRPr lang="en-US" sz="3000" dirty="0"/>
          </a:p>
        </p:txBody>
      </p:sp>
      <p:sp>
        <p:nvSpPr>
          <p:cNvPr id="4" name="Shape 2"/>
          <p:cNvSpPr/>
          <p:nvPr/>
        </p:nvSpPr>
        <p:spPr>
          <a:xfrm>
            <a:off x="640080" y="2514600"/>
            <a:ext cx="10881360" cy="1371600"/>
          </a:xfrm>
          <a:prstGeom prst="roundRect">
            <a:avLst>
              <a:gd name="adj" fmla="val 6667"/>
            </a:avLst>
          </a:prstGeom>
          <a:solidFill>
            <a:srgbClr val="101A30"/>
          </a:solidFill>
          <a:ln/>
        </p:spPr>
      </p:sp>
      <p:sp>
        <p:nvSpPr>
          <p:cNvPr id="5" name="Text 3"/>
          <p:cNvSpPr/>
          <p:nvPr/>
        </p:nvSpPr>
        <p:spPr>
          <a:xfrm>
            <a:off x="914400" y="2697480"/>
            <a:ext cx="10332720" cy="548640"/>
          </a:xfrm>
          <a:prstGeom prst="rect">
            <a:avLst/>
          </a:prstGeom>
          <a:noFill/>
          <a:ln/>
        </p:spPr>
        <p:txBody>
          <a:bodyPr wrap="square" lIns="0" tIns="0" rIns="0" bIns="0" rtlCol="0" anchor="ctr"/>
          <a:lstStyle/>
          <a:p>
            <a:pPr indent="0" marL="0">
              <a:buNone/>
            </a:pPr>
            <a:r>
              <a:rPr lang="en-US" sz="2200" b="1" dirty="0">
                <a:solidFill>
                  <a:srgbClr val="F5A623"/>
                </a:solidFill>
                <a:latin typeface="Georgia" pitchFamily="34" charset="0"/>
                <a:ea typeface="Georgia" pitchFamily="34" charset="-122"/>
                <a:cs typeface="Georgia" pitchFamily="34" charset="-120"/>
              </a:rPr>
              <a:t>Illustrative Phase 1–2 request: US$120,000–180,000</a:t>
            </a:r>
            <a:endParaRPr lang="en-US" sz="2200" dirty="0"/>
          </a:p>
        </p:txBody>
      </p:sp>
      <p:sp>
        <p:nvSpPr>
          <p:cNvPr id="6" name="Text 4"/>
          <p:cNvSpPr/>
          <p:nvPr/>
        </p:nvSpPr>
        <p:spPr>
          <a:xfrm>
            <a:off x="914400" y="3246120"/>
            <a:ext cx="10332720" cy="502920"/>
          </a:xfrm>
          <a:prstGeom prst="rect">
            <a:avLst/>
          </a:prstGeom>
          <a:noFill/>
          <a:ln/>
        </p:spPr>
        <p:txBody>
          <a:bodyPr wrap="square" lIns="0" tIns="0" rIns="0" bIns="0" rtlCol="0" anchor="ctr"/>
          <a:lstStyle/>
          <a:p>
            <a:pPr indent="0" marL="0">
              <a:buNone/>
            </a:pPr>
            <a:r>
              <a:rPr lang="en-US" sz="1300" i="1" dirty="0">
                <a:solidFill>
                  <a:srgbClr val="D4D4D4"/>
                </a:solidFill>
                <a:latin typeface="Calibri" pitchFamily="34" charset="0"/>
                <a:ea typeface="Calibri" pitchFamily="34" charset="-122"/>
                <a:cs typeface="Calibri" pitchFamily="34" charset="-120"/>
              </a:rPr>
              <a:t>To fully fund the pilot validation described in this deck — final scope depends on partner-specific program requirements and co-funding.</a:t>
            </a:r>
            <a:endParaRPr lang="en-US" sz="1300" dirty="0"/>
          </a:p>
        </p:txBody>
      </p:sp>
      <p:pic>
        <p:nvPicPr>
          <p:cNvPr id="7" name="Image 0" descr="./icons/check_F5A623.png">    </p:cNvPr>
          <p:cNvPicPr>
            <a:picLocks noChangeAspect="1"/>
          </p:cNvPicPr>
          <p:nvPr/>
        </p:nvPicPr>
        <p:blipFill>
          <a:blip r:embed="rId1"/>
          <a:stretch>
            <a:fillRect/>
          </a:stretch>
        </p:blipFill>
        <p:spPr>
          <a:xfrm>
            <a:off x="640080" y="4206240"/>
            <a:ext cx="292608" cy="292608"/>
          </a:xfrm>
          <a:prstGeom prst="rect">
            <a:avLst/>
          </a:prstGeom>
        </p:spPr>
      </p:pic>
      <p:sp>
        <p:nvSpPr>
          <p:cNvPr id="8" name="Text 5"/>
          <p:cNvSpPr/>
          <p:nvPr/>
        </p:nvSpPr>
        <p:spPr>
          <a:xfrm>
            <a:off x="1051560" y="416052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Program / project grants</a:t>
            </a:r>
            <a:endParaRPr lang="en-US" sz="1400" dirty="0"/>
          </a:p>
        </p:txBody>
      </p:sp>
      <p:pic>
        <p:nvPicPr>
          <p:cNvPr id="9" name="Image 1" descr="./icons/check_F5A623.png">    </p:cNvPr>
          <p:cNvPicPr>
            <a:picLocks noChangeAspect="1"/>
          </p:cNvPicPr>
          <p:nvPr/>
        </p:nvPicPr>
        <p:blipFill>
          <a:blip r:embed="rId2"/>
          <a:stretch>
            <a:fillRect/>
          </a:stretch>
        </p:blipFill>
        <p:spPr>
          <a:xfrm>
            <a:off x="640080" y="4709160"/>
            <a:ext cx="292608" cy="292608"/>
          </a:xfrm>
          <a:prstGeom prst="rect">
            <a:avLst/>
          </a:prstGeom>
        </p:spPr>
      </p:pic>
      <p:sp>
        <p:nvSpPr>
          <p:cNvPr id="10" name="Text 6"/>
          <p:cNvSpPr/>
          <p:nvPr/>
        </p:nvSpPr>
        <p:spPr>
          <a:xfrm>
            <a:off x="1051560" y="466344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Co-funded partnerships tied to a specific pillar</a:t>
            </a:r>
            <a:endParaRPr lang="en-US" sz="1400" dirty="0"/>
          </a:p>
        </p:txBody>
      </p:sp>
      <p:pic>
        <p:nvPicPr>
          <p:cNvPr id="11" name="Image 2" descr="./icons/check_F5A623.png">    </p:cNvPr>
          <p:cNvPicPr>
            <a:picLocks noChangeAspect="1"/>
          </p:cNvPicPr>
          <p:nvPr/>
        </p:nvPicPr>
        <p:blipFill>
          <a:blip r:embed="rId3"/>
          <a:stretch>
            <a:fillRect/>
          </a:stretch>
        </p:blipFill>
        <p:spPr>
          <a:xfrm>
            <a:off x="640080" y="5212080"/>
            <a:ext cx="292608" cy="292608"/>
          </a:xfrm>
          <a:prstGeom prst="rect">
            <a:avLst/>
          </a:prstGeom>
        </p:spPr>
      </p:pic>
      <p:sp>
        <p:nvSpPr>
          <p:cNvPr id="12" name="Text 7"/>
          <p:cNvSpPr/>
          <p:nvPr/>
        </p:nvSpPr>
        <p:spPr>
          <a:xfrm>
            <a:off x="1051560" y="516636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In-kind technical or educational contribution</a:t>
            </a:r>
            <a:endParaRPr lang="en-US" sz="1400" dirty="0"/>
          </a:p>
        </p:txBody>
      </p:sp>
      <p:pic>
        <p:nvPicPr>
          <p:cNvPr id="13" name="Image 3" descr="./icons/check_F5A623.png">    </p:cNvPr>
          <p:cNvPicPr>
            <a:picLocks noChangeAspect="1"/>
          </p:cNvPicPr>
          <p:nvPr/>
        </p:nvPicPr>
        <p:blipFill>
          <a:blip r:embed="rId4"/>
          <a:stretch>
            <a:fillRect/>
          </a:stretch>
        </p:blipFill>
        <p:spPr>
          <a:xfrm>
            <a:off x="640080" y="5715000"/>
            <a:ext cx="292608" cy="292608"/>
          </a:xfrm>
          <a:prstGeom prst="rect">
            <a:avLst/>
          </a:prstGeom>
        </p:spPr>
      </p:pic>
      <p:sp>
        <p:nvSpPr>
          <p:cNvPr id="14" name="Text 8"/>
          <p:cNvSpPr/>
          <p:nvPr/>
        </p:nvSpPr>
        <p:spPr>
          <a:xfrm>
            <a:off x="1051560" y="566928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GitHub Sponsors / community donations</a:t>
            </a:r>
            <a:endParaRPr lang="en-US" sz="1400" dirty="0"/>
          </a:p>
        </p:txBody>
      </p:sp>
      <p:sp>
        <p:nvSpPr>
          <p:cNvPr id="15"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16" name="Text 1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USE OF FUNDS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Where the money goes</a:t>
            </a:r>
            <a:endParaRPr lang="en-US" sz="3600" dirty="0"/>
          </a:p>
        </p:txBody>
      </p:sp>
      <p:graphicFrame>
        <p:nvGraphicFramePr>
          <p:cNvPr id="4" name="Chart 0" descr=""/>
          <p:cNvGraphicFramePr/>
          <p:nvPr/>
        </p:nvGraphicFramePr>
        <p:xfrm>
          <a:off x="548640" y="192024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92240" y="201168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Agent Network — 32%</a:t>
            </a:r>
            <a:endParaRPr lang="en-US" sz="1250" dirty="0"/>
          </a:p>
        </p:txBody>
      </p:sp>
      <p:sp>
        <p:nvSpPr>
          <p:cNvPr id="6" name="Text 3"/>
          <p:cNvSpPr/>
          <p:nvPr/>
        </p:nvSpPr>
        <p:spPr>
          <a:xfrm>
            <a:off x="6492240" y="230428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Recruiting, training, and compensating the first cohorts of verified community agents.</a:t>
            </a:r>
            <a:endParaRPr lang="en-US" sz="1100" dirty="0"/>
          </a:p>
        </p:txBody>
      </p:sp>
      <p:sp>
        <p:nvSpPr>
          <p:cNvPr id="7" name="Text 4"/>
          <p:cNvSpPr/>
          <p:nvPr/>
        </p:nvSpPr>
        <p:spPr>
          <a:xfrm>
            <a:off x="6492240" y="288036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Education — 22%</a:t>
            </a:r>
            <a:endParaRPr lang="en-US" sz="1250" dirty="0"/>
          </a:p>
        </p:txBody>
      </p:sp>
      <p:sp>
        <p:nvSpPr>
          <p:cNvPr id="8" name="Text 5"/>
          <p:cNvSpPr/>
          <p:nvPr/>
        </p:nvSpPr>
        <p:spPr>
          <a:xfrm>
            <a:off x="6492240" y="317296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Curriculum development, translation, and train-the-trainer programs.</a:t>
            </a:r>
            <a:endParaRPr lang="en-US" sz="1100" dirty="0"/>
          </a:p>
        </p:txBody>
      </p:sp>
      <p:sp>
        <p:nvSpPr>
          <p:cNvPr id="9" name="Text 6"/>
          <p:cNvSpPr/>
          <p:nvPr/>
        </p:nvSpPr>
        <p:spPr>
          <a:xfrm>
            <a:off x="6492240" y="374904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Reforestation — 18%</a:t>
            </a:r>
            <a:endParaRPr lang="en-US" sz="1250" dirty="0"/>
          </a:p>
        </p:txBody>
      </p:sp>
      <p:sp>
        <p:nvSpPr>
          <p:cNvPr id="10" name="Text 7"/>
          <p:cNvSpPr/>
          <p:nvPr/>
        </p:nvSpPr>
        <p:spPr>
          <a:xfrm>
            <a:off x="6492240" y="404164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Site partnership, community nursery setup, monitoring infrastructure.</a:t>
            </a:r>
            <a:endParaRPr lang="en-US" sz="1100" dirty="0"/>
          </a:p>
        </p:txBody>
      </p:sp>
      <p:sp>
        <p:nvSpPr>
          <p:cNvPr id="11" name="Text 8"/>
          <p:cNvSpPr/>
          <p:nvPr/>
        </p:nvSpPr>
        <p:spPr>
          <a:xfrm>
            <a:off x="6492240" y="461772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Technology — 18%</a:t>
            </a:r>
            <a:endParaRPr lang="en-US" sz="1250" dirty="0"/>
          </a:p>
        </p:txBody>
      </p:sp>
      <p:sp>
        <p:nvSpPr>
          <p:cNvPr id="12" name="Text 9"/>
          <p:cNvSpPr/>
          <p:nvPr/>
        </p:nvSpPr>
        <p:spPr>
          <a:xfrm>
            <a:off x="6492240" y="491032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dApp development, smart-contract audit costs, hosting.</a:t>
            </a:r>
            <a:endParaRPr lang="en-US" sz="1100" dirty="0"/>
          </a:p>
        </p:txBody>
      </p:sp>
      <p:sp>
        <p:nvSpPr>
          <p:cNvPr id="13" name="Text 10"/>
          <p:cNvSpPr/>
          <p:nvPr/>
        </p:nvSpPr>
        <p:spPr>
          <a:xfrm>
            <a:off x="6492240" y="548640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Governance — 10%</a:t>
            </a:r>
            <a:endParaRPr lang="en-US" sz="1250" dirty="0"/>
          </a:p>
        </p:txBody>
      </p:sp>
      <p:sp>
        <p:nvSpPr>
          <p:cNvPr id="14" name="Text 11"/>
          <p:cNvSpPr/>
          <p:nvPr/>
        </p:nvSpPr>
        <p:spPr>
          <a:xfrm>
            <a:off x="6492240" y="577900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Maintainer Council operations, compliance, transparency reporting.</a:t>
            </a:r>
            <a:endParaRPr lang="en-US" sz="1100" dirty="0"/>
          </a:p>
        </p:txBody>
      </p:sp>
      <p:sp>
        <p:nvSpPr>
          <p:cNvPr id="15"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6"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Four phases, 2026 to 2028+</a:t>
            </a:r>
            <a:endParaRPr lang="en-US" sz="3600" dirty="0"/>
          </a:p>
        </p:txBody>
      </p:sp>
      <p:sp>
        <p:nvSpPr>
          <p:cNvPr id="4" name="Shape 2"/>
          <p:cNvSpPr/>
          <p:nvPr/>
        </p:nvSpPr>
        <p:spPr>
          <a:xfrm>
            <a:off x="1783080" y="3291840"/>
            <a:ext cx="8622792" cy="0"/>
          </a:xfrm>
          <a:prstGeom prst="line">
            <a:avLst/>
          </a:prstGeom>
          <a:noFill/>
          <a:ln w="25400">
            <a:solidFill>
              <a:srgbClr val="D4D4D4"/>
            </a:solidFill>
            <a:prstDash val="solid"/>
          </a:ln>
        </p:spPr>
      </p:sp>
      <p:sp>
        <p:nvSpPr>
          <p:cNvPr id="5" name="Shape 3"/>
          <p:cNvSpPr/>
          <p:nvPr/>
        </p:nvSpPr>
        <p:spPr>
          <a:xfrm>
            <a:off x="1655064" y="3163824"/>
            <a:ext cx="256032" cy="256032"/>
          </a:xfrm>
          <a:prstGeom prst="ellipse">
            <a:avLst/>
          </a:prstGeom>
          <a:solidFill>
            <a:srgbClr val="F5A623"/>
          </a:solidFill>
          <a:ln w="25400">
            <a:solidFill>
              <a:srgbClr val="FFFFFF"/>
            </a:solidFill>
            <a:prstDash val="solid"/>
          </a:ln>
        </p:spPr>
      </p:sp>
      <p:sp>
        <p:nvSpPr>
          <p:cNvPr id="6" name="Shape 4"/>
          <p:cNvSpPr/>
          <p:nvPr/>
        </p:nvSpPr>
        <p:spPr>
          <a:xfrm>
            <a:off x="548640" y="1691640"/>
            <a:ext cx="2468880" cy="1234440"/>
          </a:xfrm>
          <a:prstGeom prst="roundRect">
            <a:avLst>
              <a:gd name="adj" fmla="val 5926"/>
            </a:avLst>
          </a:prstGeom>
          <a:solidFill>
            <a:srgbClr val="FAF9F6"/>
          </a:solidFill>
          <a:ln/>
        </p:spPr>
      </p:sp>
      <p:sp>
        <p:nvSpPr>
          <p:cNvPr id="7" name="Text 5"/>
          <p:cNvSpPr/>
          <p:nvPr/>
        </p:nvSpPr>
        <p:spPr>
          <a:xfrm>
            <a:off x="685800" y="178308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1 — Foundation</a:t>
            </a:r>
            <a:endParaRPr lang="en-US" sz="1250" dirty="0"/>
          </a:p>
        </p:txBody>
      </p:sp>
      <p:sp>
        <p:nvSpPr>
          <p:cNvPr id="8" name="Text 6"/>
          <p:cNvSpPr/>
          <p:nvPr/>
        </p:nvSpPr>
        <p:spPr>
          <a:xfrm>
            <a:off x="685800" y="207568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2026 Q2–Q3</a:t>
            </a:r>
            <a:endParaRPr lang="en-US" sz="1050" dirty="0"/>
          </a:p>
        </p:txBody>
      </p:sp>
      <p:sp>
        <p:nvSpPr>
          <p:cNvPr id="9" name="Text 7"/>
          <p:cNvSpPr/>
          <p:nvPr/>
        </p:nvSpPr>
        <p:spPr>
          <a:xfrm>
            <a:off x="685800" y="235000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Documentation, first agents, first partnerships</a:t>
            </a:r>
            <a:endParaRPr lang="en-US" sz="1000" dirty="0"/>
          </a:p>
        </p:txBody>
      </p:sp>
      <p:sp>
        <p:nvSpPr>
          <p:cNvPr id="10" name="Shape 8"/>
          <p:cNvSpPr/>
          <p:nvPr/>
        </p:nvSpPr>
        <p:spPr>
          <a:xfrm>
            <a:off x="4529328" y="3163824"/>
            <a:ext cx="256032" cy="256032"/>
          </a:xfrm>
          <a:prstGeom prst="ellipse">
            <a:avLst/>
          </a:prstGeom>
          <a:solidFill>
            <a:srgbClr val="F5A623"/>
          </a:solidFill>
          <a:ln w="25400">
            <a:solidFill>
              <a:srgbClr val="FFFFFF"/>
            </a:solidFill>
            <a:prstDash val="solid"/>
          </a:ln>
        </p:spPr>
      </p:sp>
      <p:sp>
        <p:nvSpPr>
          <p:cNvPr id="11" name="Shape 9"/>
          <p:cNvSpPr/>
          <p:nvPr/>
        </p:nvSpPr>
        <p:spPr>
          <a:xfrm>
            <a:off x="3422904" y="3703320"/>
            <a:ext cx="2468880" cy="1234440"/>
          </a:xfrm>
          <a:prstGeom prst="roundRect">
            <a:avLst>
              <a:gd name="adj" fmla="val 5926"/>
            </a:avLst>
          </a:prstGeom>
          <a:solidFill>
            <a:srgbClr val="FAF9F6"/>
          </a:solidFill>
          <a:ln/>
        </p:spPr>
      </p:sp>
      <p:sp>
        <p:nvSpPr>
          <p:cNvPr id="12" name="Text 10"/>
          <p:cNvSpPr/>
          <p:nvPr/>
        </p:nvSpPr>
        <p:spPr>
          <a:xfrm>
            <a:off x="3560064" y="379476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2 — Validation</a:t>
            </a:r>
            <a:endParaRPr lang="en-US" sz="1250" dirty="0"/>
          </a:p>
        </p:txBody>
      </p:sp>
      <p:sp>
        <p:nvSpPr>
          <p:cNvPr id="13" name="Text 11"/>
          <p:cNvSpPr/>
          <p:nvPr/>
        </p:nvSpPr>
        <p:spPr>
          <a:xfrm>
            <a:off x="3560064" y="408736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2026 Q4–2027 Q1</a:t>
            </a:r>
            <a:endParaRPr lang="en-US" sz="1050" dirty="0"/>
          </a:p>
        </p:txBody>
      </p:sp>
      <p:sp>
        <p:nvSpPr>
          <p:cNvPr id="14" name="Text 12"/>
          <p:cNvSpPr/>
          <p:nvPr/>
        </p:nvSpPr>
        <p:spPr>
          <a:xfrm>
            <a:off x="3560064" y="436168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Prove the full model in one pilot community</a:t>
            </a:r>
            <a:endParaRPr lang="en-US" sz="1000" dirty="0"/>
          </a:p>
        </p:txBody>
      </p:sp>
      <p:sp>
        <p:nvSpPr>
          <p:cNvPr id="15" name="Shape 13"/>
          <p:cNvSpPr/>
          <p:nvPr/>
        </p:nvSpPr>
        <p:spPr>
          <a:xfrm>
            <a:off x="7403592" y="3163824"/>
            <a:ext cx="256032" cy="256032"/>
          </a:xfrm>
          <a:prstGeom prst="ellipse">
            <a:avLst/>
          </a:prstGeom>
          <a:solidFill>
            <a:srgbClr val="F5A623"/>
          </a:solidFill>
          <a:ln w="25400">
            <a:solidFill>
              <a:srgbClr val="FFFFFF"/>
            </a:solidFill>
            <a:prstDash val="solid"/>
          </a:ln>
        </p:spPr>
      </p:sp>
      <p:sp>
        <p:nvSpPr>
          <p:cNvPr id="16" name="Shape 14"/>
          <p:cNvSpPr/>
          <p:nvPr/>
        </p:nvSpPr>
        <p:spPr>
          <a:xfrm>
            <a:off x="6297168" y="1691640"/>
            <a:ext cx="2468880" cy="1234440"/>
          </a:xfrm>
          <a:prstGeom prst="roundRect">
            <a:avLst>
              <a:gd name="adj" fmla="val 5926"/>
            </a:avLst>
          </a:prstGeom>
          <a:solidFill>
            <a:srgbClr val="FAF9F6"/>
          </a:solidFill>
          <a:ln/>
        </p:spPr>
      </p:sp>
      <p:sp>
        <p:nvSpPr>
          <p:cNvPr id="17" name="Text 15"/>
          <p:cNvSpPr/>
          <p:nvPr/>
        </p:nvSpPr>
        <p:spPr>
          <a:xfrm>
            <a:off x="6434328" y="178308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3 — Growth</a:t>
            </a:r>
            <a:endParaRPr lang="en-US" sz="1250" dirty="0"/>
          </a:p>
        </p:txBody>
      </p:sp>
      <p:sp>
        <p:nvSpPr>
          <p:cNvPr id="18" name="Text 16"/>
          <p:cNvSpPr/>
          <p:nvPr/>
        </p:nvSpPr>
        <p:spPr>
          <a:xfrm>
            <a:off x="6434328" y="207568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2027</a:t>
            </a:r>
            <a:endParaRPr lang="en-US" sz="1050" dirty="0"/>
          </a:p>
        </p:txBody>
      </p:sp>
      <p:sp>
        <p:nvSpPr>
          <p:cNvPr id="19" name="Text 17"/>
          <p:cNvSpPr/>
          <p:nvPr/>
        </p:nvSpPr>
        <p:spPr>
          <a:xfrm>
            <a:off x="6434328" y="235000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Multi-region expansion, dApp public beta, fee model begins</a:t>
            </a:r>
            <a:endParaRPr lang="en-US" sz="1000" dirty="0"/>
          </a:p>
        </p:txBody>
      </p:sp>
      <p:sp>
        <p:nvSpPr>
          <p:cNvPr id="20" name="Shape 18"/>
          <p:cNvSpPr/>
          <p:nvPr/>
        </p:nvSpPr>
        <p:spPr>
          <a:xfrm>
            <a:off x="10277856" y="3163824"/>
            <a:ext cx="256032" cy="256032"/>
          </a:xfrm>
          <a:prstGeom prst="ellipse">
            <a:avLst/>
          </a:prstGeom>
          <a:solidFill>
            <a:srgbClr val="F5A623"/>
          </a:solidFill>
          <a:ln w="25400">
            <a:solidFill>
              <a:srgbClr val="FFFFFF"/>
            </a:solidFill>
            <a:prstDash val="solid"/>
          </a:ln>
        </p:spPr>
      </p:sp>
      <p:sp>
        <p:nvSpPr>
          <p:cNvPr id="21" name="Shape 19"/>
          <p:cNvSpPr/>
          <p:nvPr/>
        </p:nvSpPr>
        <p:spPr>
          <a:xfrm>
            <a:off x="9171432" y="3703320"/>
            <a:ext cx="2468880" cy="1234440"/>
          </a:xfrm>
          <a:prstGeom prst="roundRect">
            <a:avLst>
              <a:gd name="adj" fmla="val 5926"/>
            </a:avLst>
          </a:prstGeom>
          <a:solidFill>
            <a:srgbClr val="FAF9F6"/>
          </a:solidFill>
          <a:ln/>
        </p:spPr>
      </p:sp>
      <p:sp>
        <p:nvSpPr>
          <p:cNvPr id="22" name="Text 20"/>
          <p:cNvSpPr/>
          <p:nvPr/>
        </p:nvSpPr>
        <p:spPr>
          <a:xfrm>
            <a:off x="9308592" y="379476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4 — Maturity</a:t>
            </a:r>
            <a:endParaRPr lang="en-US" sz="1250" dirty="0"/>
          </a:p>
        </p:txBody>
      </p:sp>
      <p:sp>
        <p:nvSpPr>
          <p:cNvPr id="23" name="Text 21"/>
          <p:cNvSpPr/>
          <p:nvPr/>
        </p:nvSpPr>
        <p:spPr>
          <a:xfrm>
            <a:off x="9308592" y="408736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2028+</a:t>
            </a:r>
            <a:endParaRPr lang="en-US" sz="1050" dirty="0"/>
          </a:p>
        </p:txBody>
      </p:sp>
      <p:sp>
        <p:nvSpPr>
          <p:cNvPr id="24" name="Text 22"/>
          <p:cNvSpPr/>
          <p:nvPr/>
        </p:nvSpPr>
        <p:spPr>
          <a:xfrm>
            <a:off x="9308592" y="436168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Governance decentralization, financial self-sustainability</a:t>
            </a:r>
            <a:endParaRPr lang="en-US" sz="1000" dirty="0"/>
          </a:p>
        </p:txBody>
      </p:sp>
      <p:sp>
        <p:nvSpPr>
          <p:cNvPr id="25" name="Text 23"/>
          <p:cNvSpPr/>
          <p:nvPr/>
        </p:nvSpPr>
        <p:spPr>
          <a:xfrm>
            <a:off x="640080" y="5989320"/>
            <a:ext cx="10881360" cy="365760"/>
          </a:xfrm>
          <a:prstGeom prst="rect">
            <a:avLst/>
          </a:prstGeom>
          <a:noFill/>
          <a:ln/>
        </p:spPr>
        <p:txBody>
          <a:bodyPr wrap="square" lIns="0" tIns="0" rIns="0" bIns="0" rtlCol="0" anchor="ctr"/>
          <a:lstStyle/>
          <a:p>
            <a:pPr indent="0" marL="0">
              <a:buNone/>
            </a:pPr>
            <a:r>
              <a:rPr lang="en-US" sz="1150" i="1" dirty="0">
                <a:solidFill>
                  <a:srgbClr val="4A5568"/>
                </a:solidFill>
                <a:latin typeface="Calibri" pitchFamily="34" charset="0"/>
                <a:ea typeface="Calibri" pitchFamily="34" charset="-122"/>
                <a:cs typeface="Calibri" pitchFamily="34" charset="-120"/>
              </a:rPr>
              <a:t>Full milestone-level detail, including honest status tracking, is published openly in our documentation repository.</a:t>
            </a:r>
            <a:endParaRPr lang="en-US" sz="11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7" name="Text 2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TEAM</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 founder-led team, building in the open</a:t>
            </a:r>
            <a:endParaRPr lang="en-US" sz="3600" dirty="0"/>
          </a:p>
        </p:txBody>
      </p:sp>
      <p:sp>
        <p:nvSpPr>
          <p:cNvPr id="4" name="Shape 2"/>
          <p:cNvSpPr/>
          <p:nvPr/>
        </p:nvSpPr>
        <p:spPr>
          <a:xfrm>
            <a:off x="640080" y="2011680"/>
            <a:ext cx="3840480" cy="3931920"/>
          </a:xfrm>
          <a:prstGeom prst="roundRect">
            <a:avLst>
              <a:gd name="adj" fmla="val 2381"/>
            </a:avLst>
          </a:prstGeom>
          <a:solidFill>
            <a:srgbClr val="1B2A4A"/>
          </a:solidFill>
          <a:ln/>
        </p:spPr>
      </p:sp>
      <p:sp>
        <p:nvSpPr>
          <p:cNvPr id="5" name="Shape 3"/>
          <p:cNvSpPr/>
          <p:nvPr/>
        </p:nvSpPr>
        <p:spPr>
          <a:xfrm>
            <a:off x="1965960" y="2331720"/>
            <a:ext cx="1188720" cy="1188720"/>
          </a:xfrm>
          <a:prstGeom prst="ellipse">
            <a:avLst/>
          </a:prstGeom>
          <a:solidFill>
            <a:srgbClr val="F5A623"/>
          </a:solidFill>
          <a:ln/>
        </p:spPr>
      </p:sp>
      <p:sp>
        <p:nvSpPr>
          <p:cNvPr id="6" name="Text 4"/>
          <p:cNvSpPr/>
          <p:nvPr/>
        </p:nvSpPr>
        <p:spPr>
          <a:xfrm>
            <a:off x="1965960" y="2331720"/>
            <a:ext cx="1188720" cy="1188720"/>
          </a:xfrm>
          <a:prstGeom prst="rect">
            <a:avLst/>
          </a:prstGeom>
          <a:noFill/>
          <a:ln/>
        </p:spPr>
        <p:txBody>
          <a:bodyPr wrap="square" lIns="0" tIns="0" rIns="0" bIns="0" rtlCol="0" anchor="ctr"/>
          <a:lstStyle/>
          <a:p>
            <a:pPr algn="ctr" indent="0" marL="0">
              <a:buNone/>
            </a:pPr>
            <a:r>
              <a:rPr lang="en-US" sz="3200" b="1" dirty="0">
                <a:solidFill>
                  <a:srgbClr val="1B2A4A"/>
                </a:solidFill>
                <a:latin typeface="Georgia" pitchFamily="34" charset="0"/>
                <a:ea typeface="Georgia" pitchFamily="34" charset="-122"/>
                <a:cs typeface="Georgia" pitchFamily="34" charset="-120"/>
              </a:rPr>
              <a:t>JD</a:t>
            </a:r>
            <a:endParaRPr lang="en-US" sz="3200" dirty="0"/>
          </a:p>
        </p:txBody>
      </p:sp>
      <p:sp>
        <p:nvSpPr>
          <p:cNvPr id="7" name="Text 5"/>
          <p:cNvSpPr/>
          <p:nvPr/>
        </p:nvSpPr>
        <p:spPr>
          <a:xfrm>
            <a:off x="822960" y="3703320"/>
            <a:ext cx="347472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Johnny Dubic</a:t>
            </a:r>
            <a:endParaRPr lang="en-US" sz="1700" dirty="0"/>
          </a:p>
        </p:txBody>
      </p:sp>
      <p:sp>
        <p:nvSpPr>
          <p:cNvPr id="8" name="Text 6"/>
          <p:cNvSpPr/>
          <p:nvPr/>
        </p:nvSpPr>
        <p:spPr>
          <a:xfrm>
            <a:off x="822960" y="4069080"/>
            <a:ext cx="3474720" cy="320040"/>
          </a:xfrm>
          <a:prstGeom prst="rect">
            <a:avLst/>
          </a:prstGeom>
          <a:noFill/>
          <a:ln/>
        </p:spPr>
        <p:txBody>
          <a:bodyPr wrap="square" lIns="0" tIns="0" rIns="0" bIns="0" rtlCol="0" anchor="ctr"/>
          <a:lstStyle/>
          <a:p>
            <a:pPr algn="ctr" indent="0" marL="0">
              <a:buNone/>
            </a:pPr>
            <a:r>
              <a:rPr lang="en-US" sz="1300" i="1" dirty="0">
                <a:solidFill>
                  <a:srgbClr val="F5A623"/>
                </a:solidFill>
                <a:latin typeface="Calibri" pitchFamily="34" charset="0"/>
                <a:ea typeface="Calibri" pitchFamily="34" charset="-122"/>
                <a:cs typeface="Calibri" pitchFamily="34" charset="-120"/>
              </a:rPr>
              <a:t>Founder</a:t>
            </a:r>
            <a:endParaRPr lang="en-US" sz="1300" dirty="0"/>
          </a:p>
        </p:txBody>
      </p:sp>
      <p:sp>
        <p:nvSpPr>
          <p:cNvPr id="9" name="Text 7"/>
          <p:cNvSpPr/>
          <p:nvPr/>
        </p:nvSpPr>
        <p:spPr>
          <a:xfrm>
            <a:off x="960120" y="4526280"/>
            <a:ext cx="3200400" cy="1188720"/>
          </a:xfrm>
          <a:prstGeom prst="rect">
            <a:avLst/>
          </a:prstGeom>
          <a:noFill/>
          <a:ln/>
        </p:spPr>
        <p:txBody>
          <a:bodyPr wrap="square" lIns="0" tIns="0" rIns="0" bIns="0" rtlCol="0" anchor="ctr"/>
          <a:lstStyle/>
          <a:p>
            <a:pPr algn="ctr" indent="0" marL="0">
              <a:lnSpc>
                <a:spcPts val="1500"/>
              </a:lnSpc>
              <a:buNone/>
            </a:pPr>
            <a:r>
              <a:rPr lang="en-US" sz="1150" dirty="0">
                <a:solidFill>
                  <a:srgbClr val="D4D4D4"/>
                </a:solidFill>
                <a:latin typeface="Calibri" pitchFamily="34" charset="0"/>
                <a:ea typeface="Calibri" pitchFamily="34" charset="-122"/>
                <a:cs typeface="Calibri" pitchFamily="34" charset="-120"/>
              </a:rPr>
              <a:t>Léogâne, Haiti. Also founder of FreClean, a local entrepreneurship initiative — a planned future formal partner of CeloHT.</a:t>
            </a:r>
            <a:endParaRPr lang="en-US" sz="1150" dirty="0"/>
          </a:p>
        </p:txBody>
      </p:sp>
      <p:sp>
        <p:nvSpPr>
          <p:cNvPr id="10" name="Text 8"/>
          <p:cNvSpPr/>
          <p:nvPr/>
        </p:nvSpPr>
        <p:spPr>
          <a:xfrm>
            <a:off x="4846320" y="2103120"/>
            <a:ext cx="594360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How CeloHT is governed</a:t>
            </a:r>
            <a:endParaRPr lang="en-US" sz="1600" dirty="0"/>
          </a:p>
        </p:txBody>
      </p:sp>
      <p:sp>
        <p:nvSpPr>
          <p:cNvPr id="11" name="Text 9"/>
          <p:cNvSpPr/>
          <p:nvPr/>
        </p:nvSpPr>
        <p:spPr>
          <a:xfrm>
            <a:off x="4846320" y="2560320"/>
            <a:ext cx="6309360" cy="91440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CeloHT is intentionally not a one-person show. Governance runs through a Foundation Director, a Maintainer Council, and Community Contributors — the Director does not hold unilateral authority over funds, policy, or roadmap.</a:t>
            </a:r>
            <a:endParaRPr lang="en-US" sz="1250" dirty="0"/>
          </a:p>
        </p:txBody>
      </p:sp>
      <p:sp>
        <p:nvSpPr>
          <p:cNvPr id="12" name="Shape 10"/>
          <p:cNvSpPr/>
          <p:nvPr/>
        </p:nvSpPr>
        <p:spPr>
          <a:xfrm>
            <a:off x="4846320" y="3657600"/>
            <a:ext cx="6309360" cy="2103120"/>
          </a:xfrm>
          <a:prstGeom prst="roundRect">
            <a:avLst>
              <a:gd name="adj" fmla="val 4348"/>
            </a:avLst>
          </a:prstGeom>
          <a:solidFill>
            <a:srgbClr val="FAF9F6"/>
          </a:solidFill>
          <a:ln/>
        </p:spPr>
      </p:sp>
      <p:sp>
        <p:nvSpPr>
          <p:cNvPr id="13" name="Text 11"/>
          <p:cNvSpPr/>
          <p:nvPr/>
        </p:nvSpPr>
        <p:spPr>
          <a:xfrm>
            <a:off x="5120640" y="3840480"/>
            <a:ext cx="5760720" cy="36576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Growing the core team</a:t>
            </a:r>
            <a:endParaRPr lang="en-US" sz="1400" dirty="0"/>
          </a:p>
        </p:txBody>
      </p:sp>
      <p:sp>
        <p:nvSpPr>
          <p:cNvPr id="14" name="Text 12"/>
          <p:cNvSpPr/>
          <p:nvPr/>
        </p:nvSpPr>
        <p:spPr>
          <a:xfrm>
            <a:off x="5120640" y="4251960"/>
            <a:ext cx="5760720" cy="1371600"/>
          </a:xfrm>
          <a:prstGeom prst="rect">
            <a:avLst/>
          </a:prstGeom>
          <a:noFill/>
          <a:ln/>
        </p:spPr>
        <p:txBody>
          <a:bodyPr wrap="square" lIns="0" tIns="0" rIns="0" bIns="0" rtlCol="0" anchor="ctr"/>
          <a:lstStyle/>
          <a:p>
            <a:pPr indent="0" marL="0">
              <a:lnSpc>
                <a:spcPts val="1600"/>
              </a:lnSpc>
              <a:buNone/>
            </a:pPr>
            <a:r>
              <a:rPr lang="en-US" sz="1200" dirty="0">
                <a:solidFill>
                  <a:srgbClr val="4A5568"/>
                </a:solidFill>
                <a:latin typeface="Calibri" pitchFamily="34" charset="0"/>
                <a:ea typeface="Calibri" pitchFamily="34" charset="-122"/>
                <a:cs typeface="Calibri" pitchFamily="34" charset="-120"/>
              </a:rPr>
              <a:t>CeloHT's Maintainer Council and named contributors are published as they join and are recognized publicly in our documentation — we don't list placeholder names to look bigger than we are today. See our open-source repositories for current, real contributors.</a:t>
            </a:r>
            <a:endParaRPr lang="en-US" sz="1200" dirty="0"/>
          </a:p>
        </p:txBody>
      </p:sp>
      <p:sp>
        <p:nvSpPr>
          <p:cNvPr id="15" name="Text 1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6"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RISK MANAGEMENT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Named risks, named mitigations</a:t>
            </a:r>
            <a:endParaRPr lang="en-US" sz="3600" dirty="0"/>
          </a:p>
        </p:txBody>
      </p:sp>
      <p:sp>
        <p:nvSpPr>
          <p:cNvPr id="4" name="Shape 2"/>
          <p:cNvSpPr/>
          <p:nvPr/>
        </p:nvSpPr>
        <p:spPr>
          <a:xfrm>
            <a:off x="640080" y="1874520"/>
            <a:ext cx="10881360" cy="749808"/>
          </a:xfrm>
          <a:prstGeom prst="roundRect">
            <a:avLst>
              <a:gd name="adj" fmla="val 7317"/>
            </a:avLst>
          </a:prstGeom>
          <a:solidFill>
            <a:srgbClr val="FAF9F6"/>
          </a:solidFill>
          <a:ln/>
        </p:spPr>
      </p:sp>
      <p:sp>
        <p:nvSpPr>
          <p:cNvPr id="5" name="Text 3"/>
          <p:cNvSpPr/>
          <p:nvPr/>
        </p:nvSpPr>
        <p:spPr>
          <a:xfrm>
            <a:off x="868680" y="187452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Adoption risk</a:t>
            </a:r>
            <a:endParaRPr lang="en-US" sz="1250" dirty="0"/>
          </a:p>
        </p:txBody>
      </p:sp>
      <p:sp>
        <p:nvSpPr>
          <p:cNvPr id="6" name="Text 4"/>
          <p:cNvSpPr/>
          <p:nvPr/>
        </p:nvSpPr>
        <p:spPr>
          <a:xfrm>
            <a:off x="2971800" y="187452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Communities may be slow to trust digital tools regardless of education quality</a:t>
            </a:r>
            <a:endParaRPr lang="en-US" sz="1050" dirty="0"/>
          </a:p>
        </p:txBody>
      </p:sp>
      <p:sp>
        <p:nvSpPr>
          <p:cNvPr id="7" name="Text 5"/>
          <p:cNvSpPr/>
          <p:nvPr/>
        </p:nvSpPr>
        <p:spPr>
          <a:xfrm>
            <a:off x="7223760" y="187452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Education-first sequencing; agent-mediated trust building</a:t>
            </a:r>
            <a:endParaRPr lang="en-US" sz="1050" dirty="0"/>
          </a:p>
        </p:txBody>
      </p:sp>
      <p:sp>
        <p:nvSpPr>
          <p:cNvPr id="8" name="Shape 6"/>
          <p:cNvSpPr/>
          <p:nvPr/>
        </p:nvSpPr>
        <p:spPr>
          <a:xfrm>
            <a:off x="640080" y="2697480"/>
            <a:ext cx="10881360" cy="749808"/>
          </a:xfrm>
          <a:prstGeom prst="roundRect">
            <a:avLst>
              <a:gd name="adj" fmla="val 7317"/>
            </a:avLst>
          </a:prstGeom>
          <a:solidFill>
            <a:srgbClr val="FAF9F6"/>
          </a:solidFill>
          <a:ln/>
        </p:spPr>
      </p:sp>
      <p:sp>
        <p:nvSpPr>
          <p:cNvPr id="9" name="Text 7"/>
          <p:cNvSpPr/>
          <p:nvPr/>
        </p:nvSpPr>
        <p:spPr>
          <a:xfrm>
            <a:off x="868680" y="269748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Agent risk</a:t>
            </a:r>
            <a:endParaRPr lang="en-US" sz="1250" dirty="0"/>
          </a:p>
        </p:txBody>
      </p:sp>
      <p:sp>
        <p:nvSpPr>
          <p:cNvPr id="10" name="Text 8"/>
          <p:cNvSpPr/>
          <p:nvPr/>
        </p:nvSpPr>
        <p:spPr>
          <a:xfrm>
            <a:off x="2971800" y="269748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Fraud or misconduct within the Agent Network</a:t>
            </a:r>
            <a:endParaRPr lang="en-US" sz="1050" dirty="0"/>
          </a:p>
        </p:txBody>
      </p:sp>
      <p:sp>
        <p:nvSpPr>
          <p:cNvPr id="11" name="Text 9"/>
          <p:cNvSpPr/>
          <p:nvPr/>
        </p:nvSpPr>
        <p:spPr>
          <a:xfrm>
            <a:off x="7223760" y="269748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On-chain verification, transaction limits, mandatory training &amp; re-certification</a:t>
            </a:r>
            <a:endParaRPr lang="en-US" sz="1050" dirty="0"/>
          </a:p>
        </p:txBody>
      </p:sp>
      <p:sp>
        <p:nvSpPr>
          <p:cNvPr id="12" name="Shape 10"/>
          <p:cNvSpPr/>
          <p:nvPr/>
        </p:nvSpPr>
        <p:spPr>
          <a:xfrm>
            <a:off x="640080" y="3520440"/>
            <a:ext cx="10881360" cy="749808"/>
          </a:xfrm>
          <a:prstGeom prst="roundRect">
            <a:avLst>
              <a:gd name="adj" fmla="val 7317"/>
            </a:avLst>
          </a:prstGeom>
          <a:solidFill>
            <a:srgbClr val="FAF9F6"/>
          </a:solidFill>
          <a:ln/>
        </p:spPr>
      </p:sp>
      <p:sp>
        <p:nvSpPr>
          <p:cNvPr id="13" name="Text 11"/>
          <p:cNvSpPr/>
          <p:nvPr/>
        </p:nvSpPr>
        <p:spPr>
          <a:xfrm>
            <a:off x="868680" y="352044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Regulatory risk</a:t>
            </a:r>
            <a:endParaRPr lang="en-US" sz="1250" dirty="0"/>
          </a:p>
        </p:txBody>
      </p:sp>
      <p:sp>
        <p:nvSpPr>
          <p:cNvPr id="14" name="Text 12"/>
          <p:cNvSpPr/>
          <p:nvPr/>
        </p:nvSpPr>
        <p:spPr>
          <a:xfrm>
            <a:off x="2971800" y="352044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Financial services regulation may evolve across operating regions</a:t>
            </a:r>
            <a:endParaRPr lang="en-US" sz="1050" dirty="0"/>
          </a:p>
        </p:txBody>
      </p:sp>
      <p:sp>
        <p:nvSpPr>
          <p:cNvPr id="15" name="Text 13"/>
          <p:cNvSpPr/>
          <p:nvPr/>
        </p:nvSpPr>
        <p:spPr>
          <a:xfrm>
            <a:off x="7223760" y="352044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Compliance-proportionate KYC; active Governance &amp; Legal monitoring</a:t>
            </a:r>
            <a:endParaRPr lang="en-US" sz="1050" dirty="0"/>
          </a:p>
        </p:txBody>
      </p:sp>
      <p:sp>
        <p:nvSpPr>
          <p:cNvPr id="16" name="Shape 14"/>
          <p:cNvSpPr/>
          <p:nvPr/>
        </p:nvSpPr>
        <p:spPr>
          <a:xfrm>
            <a:off x="640080" y="4343400"/>
            <a:ext cx="10881360" cy="749808"/>
          </a:xfrm>
          <a:prstGeom prst="roundRect">
            <a:avLst>
              <a:gd name="adj" fmla="val 7317"/>
            </a:avLst>
          </a:prstGeom>
          <a:solidFill>
            <a:srgbClr val="FAF9F6"/>
          </a:solidFill>
          <a:ln/>
        </p:spPr>
      </p:sp>
      <p:sp>
        <p:nvSpPr>
          <p:cNvPr id="17" name="Text 15"/>
          <p:cNvSpPr/>
          <p:nvPr/>
        </p:nvSpPr>
        <p:spPr>
          <a:xfrm>
            <a:off x="868680" y="434340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Funding risk</a:t>
            </a:r>
            <a:endParaRPr lang="en-US" sz="1250" dirty="0"/>
          </a:p>
        </p:txBody>
      </p:sp>
      <p:sp>
        <p:nvSpPr>
          <p:cNvPr id="18" name="Text 16"/>
          <p:cNvSpPr/>
          <p:nvPr/>
        </p:nvSpPr>
        <p:spPr>
          <a:xfrm>
            <a:off x="2971800" y="434340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Grant-dependent funding requires ongoing donor relationships</a:t>
            </a:r>
            <a:endParaRPr lang="en-US" sz="1050" dirty="0"/>
          </a:p>
        </p:txBody>
      </p:sp>
      <p:sp>
        <p:nvSpPr>
          <p:cNvPr id="19" name="Text 17"/>
          <p:cNvSpPr/>
          <p:nvPr/>
        </p:nvSpPr>
        <p:spPr>
          <a:xfrm>
            <a:off x="7223760" y="434340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Diversified funding sources; Phase 3 transition to fee-based sustainability</a:t>
            </a:r>
            <a:endParaRPr lang="en-US" sz="1050" dirty="0"/>
          </a:p>
        </p:txBody>
      </p:sp>
      <p:sp>
        <p:nvSpPr>
          <p:cNvPr id="20" name="Shape 18"/>
          <p:cNvSpPr/>
          <p:nvPr/>
        </p:nvSpPr>
        <p:spPr>
          <a:xfrm>
            <a:off x="640080" y="5166360"/>
            <a:ext cx="10881360" cy="749808"/>
          </a:xfrm>
          <a:prstGeom prst="roundRect">
            <a:avLst>
              <a:gd name="adj" fmla="val 7317"/>
            </a:avLst>
          </a:prstGeom>
          <a:solidFill>
            <a:srgbClr val="FAF9F6"/>
          </a:solidFill>
          <a:ln/>
        </p:spPr>
      </p:sp>
      <p:sp>
        <p:nvSpPr>
          <p:cNvPr id="21" name="Text 19"/>
          <p:cNvSpPr/>
          <p:nvPr/>
        </p:nvSpPr>
        <p:spPr>
          <a:xfrm>
            <a:off x="868680" y="516636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Brand-misuse risk</a:t>
            </a:r>
            <a:endParaRPr lang="en-US" sz="1250" dirty="0"/>
          </a:p>
        </p:txBody>
      </p:sp>
      <p:sp>
        <p:nvSpPr>
          <p:cNvPr id="22" name="Text 20"/>
          <p:cNvSpPr/>
          <p:nvPr/>
        </p:nvSpPr>
        <p:spPr>
          <a:xfrm>
            <a:off x="2971800" y="516636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Third parties may attempt fake "CeloHT token" scams</a:t>
            </a:r>
            <a:endParaRPr lang="en-US" sz="1050" dirty="0"/>
          </a:p>
        </p:txBody>
      </p:sp>
      <p:sp>
        <p:nvSpPr>
          <p:cNvPr id="23" name="Text 21"/>
          <p:cNvSpPr/>
          <p:nvPr/>
        </p:nvSpPr>
        <p:spPr>
          <a:xfrm>
            <a:off x="7223760" y="516636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Public No-Token Policy; active monitoring and takedown process</a:t>
            </a:r>
            <a:endParaRPr lang="en-US" sz="10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ESG &amp; SOCIAL IMPACT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Impact designed in, not bolted on</a:t>
            </a:r>
            <a:endParaRPr lang="en-US" sz="3600" dirty="0"/>
          </a:p>
        </p:txBody>
      </p:sp>
      <p:sp>
        <p:nvSpPr>
          <p:cNvPr id="4" name="Shape 2"/>
          <p:cNvSpPr/>
          <p:nvPr/>
        </p:nvSpPr>
        <p:spPr>
          <a:xfrm>
            <a:off x="640080" y="2103120"/>
            <a:ext cx="3429000" cy="3566160"/>
          </a:xfrm>
          <a:prstGeom prst="roundRect">
            <a:avLst>
              <a:gd name="adj" fmla="val 2667"/>
            </a:avLst>
          </a:prstGeom>
          <a:solidFill>
            <a:srgbClr val="101A30"/>
          </a:solidFill>
          <a:ln/>
        </p:spPr>
      </p:sp>
      <p:pic>
        <p:nvPicPr>
          <p:cNvPr id="5" name="Image 0" descr="./icons/leaf_F5A623.png">    </p:cNvPr>
          <p:cNvPicPr>
            <a:picLocks noChangeAspect="1"/>
          </p:cNvPicPr>
          <p:nvPr/>
        </p:nvPicPr>
        <p:blipFill>
          <a:blip r:embed="rId1"/>
          <a:stretch>
            <a:fillRect/>
          </a:stretch>
        </p:blipFill>
        <p:spPr>
          <a:xfrm>
            <a:off x="914400" y="2377440"/>
            <a:ext cx="502920" cy="502920"/>
          </a:xfrm>
          <a:prstGeom prst="rect">
            <a:avLst/>
          </a:prstGeom>
        </p:spPr>
      </p:pic>
      <p:sp>
        <p:nvSpPr>
          <p:cNvPr id="6" name="Text 3"/>
          <p:cNvSpPr/>
          <p:nvPr/>
        </p:nvSpPr>
        <p:spPr>
          <a:xfrm>
            <a:off x="914400" y="3017520"/>
            <a:ext cx="292608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Environmental</a:t>
            </a:r>
            <a:endParaRPr lang="en-US" sz="1700" dirty="0"/>
          </a:p>
        </p:txBody>
      </p:sp>
      <p:sp>
        <p:nvSpPr>
          <p:cNvPr id="7" name="Text 4"/>
          <p:cNvSpPr/>
          <p:nvPr/>
        </p:nvSpPr>
        <p:spPr>
          <a:xfrm>
            <a:off x="914400" y="3474720"/>
            <a:ext cx="2926080" cy="20116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A permanent, verified reforestation pillar — not a carbon-offset marketing claim.</a:t>
            </a:r>
            <a:endParaRPr lang="en-US" sz="1250" dirty="0"/>
          </a:p>
        </p:txBody>
      </p:sp>
      <p:sp>
        <p:nvSpPr>
          <p:cNvPr id="8" name="Shape 5"/>
          <p:cNvSpPr/>
          <p:nvPr/>
        </p:nvSpPr>
        <p:spPr>
          <a:xfrm>
            <a:off x="4343400" y="2103120"/>
            <a:ext cx="3429000" cy="3566160"/>
          </a:xfrm>
          <a:prstGeom prst="roundRect">
            <a:avLst>
              <a:gd name="adj" fmla="val 2667"/>
            </a:avLst>
          </a:prstGeom>
          <a:solidFill>
            <a:srgbClr val="101A30"/>
          </a:solidFill>
          <a:ln/>
        </p:spPr>
      </p:sp>
      <p:pic>
        <p:nvPicPr>
          <p:cNvPr id="9" name="Image 1" descr="./icons/users_F5A623.png">    </p:cNvPr>
          <p:cNvPicPr>
            <a:picLocks noChangeAspect="1"/>
          </p:cNvPicPr>
          <p:nvPr/>
        </p:nvPicPr>
        <p:blipFill>
          <a:blip r:embed="rId2"/>
          <a:stretch>
            <a:fillRect/>
          </a:stretch>
        </p:blipFill>
        <p:spPr>
          <a:xfrm>
            <a:off x="4617720" y="2377440"/>
            <a:ext cx="502920" cy="502920"/>
          </a:xfrm>
          <a:prstGeom prst="rect">
            <a:avLst/>
          </a:prstGeom>
        </p:spPr>
      </p:pic>
      <p:sp>
        <p:nvSpPr>
          <p:cNvPr id="10" name="Text 6"/>
          <p:cNvSpPr/>
          <p:nvPr/>
        </p:nvSpPr>
        <p:spPr>
          <a:xfrm>
            <a:off x="4617720" y="3017520"/>
            <a:ext cx="292608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Social</a:t>
            </a:r>
            <a:endParaRPr lang="en-US" sz="1700" dirty="0"/>
          </a:p>
        </p:txBody>
      </p:sp>
      <p:sp>
        <p:nvSpPr>
          <p:cNvPr id="11" name="Text 7"/>
          <p:cNvSpPr/>
          <p:nvPr/>
        </p:nvSpPr>
        <p:spPr>
          <a:xfrm>
            <a:off x="4617720" y="3474720"/>
            <a:ext cx="2926080" cy="20116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Financial inclusion, education access, and local economic opportunity for underserved communities.</a:t>
            </a:r>
            <a:endParaRPr lang="en-US" sz="1250" dirty="0"/>
          </a:p>
        </p:txBody>
      </p:sp>
      <p:sp>
        <p:nvSpPr>
          <p:cNvPr id="12" name="Shape 8"/>
          <p:cNvSpPr/>
          <p:nvPr/>
        </p:nvSpPr>
        <p:spPr>
          <a:xfrm>
            <a:off x="8046720" y="2103120"/>
            <a:ext cx="3429000" cy="3566160"/>
          </a:xfrm>
          <a:prstGeom prst="roundRect">
            <a:avLst>
              <a:gd name="adj" fmla="val 2667"/>
            </a:avLst>
          </a:prstGeom>
          <a:solidFill>
            <a:srgbClr val="101A30"/>
          </a:solidFill>
          <a:ln/>
        </p:spPr>
      </p:sp>
      <p:pic>
        <p:nvPicPr>
          <p:cNvPr id="13" name="Image 2" descr="./icons/governance_F5A623.png">    </p:cNvPr>
          <p:cNvPicPr>
            <a:picLocks noChangeAspect="1"/>
          </p:cNvPicPr>
          <p:nvPr/>
        </p:nvPicPr>
        <p:blipFill>
          <a:blip r:embed="rId3"/>
          <a:stretch>
            <a:fillRect/>
          </a:stretch>
        </p:blipFill>
        <p:spPr>
          <a:xfrm>
            <a:off x="8321040" y="2377440"/>
            <a:ext cx="502920" cy="502920"/>
          </a:xfrm>
          <a:prstGeom prst="rect">
            <a:avLst/>
          </a:prstGeom>
        </p:spPr>
      </p:pic>
      <p:sp>
        <p:nvSpPr>
          <p:cNvPr id="14" name="Text 9"/>
          <p:cNvSpPr/>
          <p:nvPr/>
        </p:nvSpPr>
        <p:spPr>
          <a:xfrm>
            <a:off x="8321040" y="3017520"/>
            <a:ext cx="292608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Governance</a:t>
            </a:r>
            <a:endParaRPr lang="en-US" sz="1700" dirty="0"/>
          </a:p>
        </p:txBody>
      </p:sp>
      <p:sp>
        <p:nvSpPr>
          <p:cNvPr id="15" name="Text 10"/>
          <p:cNvSpPr/>
          <p:nvPr/>
        </p:nvSpPr>
        <p:spPr>
          <a:xfrm>
            <a:off x="8321040" y="3474720"/>
            <a:ext cx="2926080" cy="20116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Transparent, community-based decision-making with a published path toward decentralization.</a:t>
            </a:r>
            <a:endParaRPr lang="en-US" sz="1250" dirty="0"/>
          </a:p>
        </p:txBody>
      </p:sp>
      <p:sp>
        <p:nvSpPr>
          <p:cNvPr id="16" name="Text 1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17"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pic>
        <p:nvPicPr>
          <p:cNvPr id="2" name="Image 0" descr="./icons/seedling_F5A623.png">    </p:cNvPr>
          <p:cNvPicPr>
            <a:picLocks noChangeAspect="1"/>
          </p:cNvPicPr>
          <p:nvPr/>
        </p:nvPicPr>
        <p:blipFill>
          <a:blip r:embed="rId1"/>
          <a:stretch>
            <a:fillRect/>
          </a:stretch>
        </p:blipFill>
        <p:spPr>
          <a:xfrm>
            <a:off x="5394960" y="822960"/>
            <a:ext cx="731520" cy="731520"/>
          </a:xfrm>
          <a:prstGeom prst="rect">
            <a:avLst/>
          </a:prstGeom>
        </p:spPr>
      </p:pic>
      <p:sp>
        <p:nvSpPr>
          <p:cNvPr id="3" name="Text 0"/>
          <p:cNvSpPr/>
          <p:nvPr/>
        </p:nvSpPr>
        <p:spPr>
          <a:xfrm>
            <a:off x="914400" y="1828800"/>
            <a:ext cx="10332720" cy="1371600"/>
          </a:xfrm>
          <a:prstGeom prst="rect">
            <a:avLst/>
          </a:prstGeom>
          <a:noFill/>
          <a:ln/>
        </p:spPr>
        <p:txBody>
          <a:bodyPr wrap="square" lIns="0" tIns="0" rIns="0" bIns="0" rtlCol="0" anchor="ctr"/>
          <a:lstStyle/>
          <a:p>
            <a:pPr algn="ctr" indent="0" marL="0">
              <a:lnSpc>
                <a:spcPts val="4000"/>
              </a:lnSpc>
              <a:buNone/>
            </a:pPr>
            <a:r>
              <a:rPr lang="en-US" sz="3200" b="1" dirty="0">
                <a:solidFill>
                  <a:srgbClr val="FFFFFF"/>
                </a:solidFill>
                <a:latin typeface="Georgia" pitchFamily="34" charset="0"/>
                <a:ea typeface="Georgia" pitchFamily="34" charset="-122"/>
                <a:cs typeface="Georgia" pitchFamily="34" charset="-120"/>
              </a:rPr>
              <a:t>Let's build financial inclusion</a:t>
            </a:r>
            <a:endParaRPr lang="en-US" sz="3200" dirty="0"/>
          </a:p>
          <a:p>
            <a:pPr algn="ctr" indent="0" marL="0">
              <a:lnSpc>
                <a:spcPts val="4000"/>
              </a:lnSpc>
              <a:buNone/>
            </a:pPr>
            <a:r>
              <a:rPr lang="en-US" sz="3200" b="1" dirty="0">
                <a:solidFill>
                  <a:srgbClr val="FFFFFF"/>
                </a:solidFill>
                <a:latin typeface="Georgia" pitchFamily="34" charset="0"/>
                <a:ea typeface="Georgia" pitchFamily="34" charset="-122"/>
                <a:cs typeface="Georgia" pitchFamily="34" charset="-120"/>
              </a:rPr>
              <a:t>that communities can trust.</a:t>
            </a:r>
            <a:endParaRPr lang="en-US" sz="3200" dirty="0"/>
          </a:p>
        </p:txBody>
      </p:sp>
      <p:sp>
        <p:nvSpPr>
          <p:cNvPr id="4" name="Text 1"/>
          <p:cNvSpPr/>
          <p:nvPr/>
        </p:nvSpPr>
        <p:spPr>
          <a:xfrm>
            <a:off x="1371600" y="3246120"/>
            <a:ext cx="9418320" cy="457200"/>
          </a:xfrm>
          <a:prstGeom prst="rect">
            <a:avLst/>
          </a:prstGeom>
          <a:noFill/>
          <a:ln/>
        </p:spPr>
        <p:txBody>
          <a:bodyPr wrap="square" lIns="0" tIns="0" rIns="0" bIns="0" rtlCol="0" anchor="ctr"/>
          <a:lstStyle/>
          <a:p>
            <a:pPr algn="ctr" indent="0" marL="0">
              <a:buNone/>
            </a:pPr>
            <a:r>
              <a:rPr lang="en-US" sz="1500" i="1" dirty="0">
                <a:solidFill>
                  <a:srgbClr val="F5A623"/>
                </a:solidFill>
                <a:latin typeface="Calibri" pitchFamily="34" charset="0"/>
                <a:ea typeface="Calibri" pitchFamily="34" charset="-122"/>
                <a:cs typeface="Calibri" pitchFamily="34" charset="-120"/>
              </a:rPr>
              <a:t>No token. No speculation. Just education, trust, and reforestation — built openly.</a:t>
            </a:r>
            <a:endParaRPr lang="en-US" sz="1500" dirty="0"/>
          </a:p>
        </p:txBody>
      </p:sp>
      <p:sp>
        <p:nvSpPr>
          <p:cNvPr id="5" name="Shape 2"/>
          <p:cNvSpPr/>
          <p:nvPr/>
        </p:nvSpPr>
        <p:spPr>
          <a:xfrm>
            <a:off x="4480560" y="4023360"/>
            <a:ext cx="3200400" cy="0"/>
          </a:xfrm>
          <a:prstGeom prst="line">
            <a:avLst/>
          </a:prstGeom>
          <a:noFill/>
          <a:ln w="12700">
            <a:solidFill>
              <a:srgbClr val="D4D4D4"/>
            </a:solidFill>
            <a:prstDash val="solid"/>
          </a:ln>
        </p:spPr>
      </p:sp>
      <p:pic>
        <p:nvPicPr>
          <p:cNvPr id="6" name="Image 1" descr="./icons/mail_F5A623.png">    </p:cNvPr>
          <p:cNvPicPr>
            <a:picLocks noChangeAspect="1"/>
          </p:cNvPicPr>
          <p:nvPr/>
        </p:nvPicPr>
        <p:blipFill>
          <a:blip r:embed="rId2"/>
          <a:stretch>
            <a:fillRect/>
          </a:stretch>
        </p:blipFill>
        <p:spPr>
          <a:xfrm>
            <a:off x="4572000" y="4480560"/>
            <a:ext cx="310896" cy="310896"/>
          </a:xfrm>
          <a:prstGeom prst="rect">
            <a:avLst/>
          </a:prstGeom>
        </p:spPr>
      </p:pic>
      <p:sp>
        <p:nvSpPr>
          <p:cNvPr id="7" name="Text 3"/>
          <p:cNvSpPr/>
          <p:nvPr/>
        </p:nvSpPr>
        <p:spPr>
          <a:xfrm>
            <a:off x="5029200" y="4453128"/>
            <a:ext cx="3200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contact@celoht.com</a:t>
            </a:r>
            <a:endParaRPr lang="en-US" sz="1400" dirty="0"/>
          </a:p>
        </p:txBody>
      </p:sp>
      <p:pic>
        <p:nvPicPr>
          <p:cNvPr id="8" name="Image 2" descr="./icons/globe_F5A623.png">    </p:cNvPr>
          <p:cNvPicPr>
            <a:picLocks noChangeAspect="1"/>
          </p:cNvPicPr>
          <p:nvPr/>
        </p:nvPicPr>
        <p:blipFill>
          <a:blip r:embed="rId3"/>
          <a:stretch>
            <a:fillRect/>
          </a:stretch>
        </p:blipFill>
        <p:spPr>
          <a:xfrm>
            <a:off x="4572000" y="4983480"/>
            <a:ext cx="310896" cy="310896"/>
          </a:xfrm>
          <a:prstGeom prst="rect">
            <a:avLst/>
          </a:prstGeom>
        </p:spPr>
      </p:pic>
      <p:sp>
        <p:nvSpPr>
          <p:cNvPr id="9" name="Text 4"/>
          <p:cNvSpPr/>
          <p:nvPr/>
        </p:nvSpPr>
        <p:spPr>
          <a:xfrm>
            <a:off x="5029200" y="4956048"/>
            <a:ext cx="3200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celoht.com</a:t>
            </a:r>
            <a:endParaRPr lang="en-US" sz="1400" dirty="0"/>
          </a:p>
        </p:txBody>
      </p:sp>
      <p:pic>
        <p:nvPicPr>
          <p:cNvPr id="10" name="Image 3" descr="./icons/code_F5A623.png">    </p:cNvPr>
          <p:cNvPicPr>
            <a:picLocks noChangeAspect="1"/>
          </p:cNvPicPr>
          <p:nvPr/>
        </p:nvPicPr>
        <p:blipFill>
          <a:blip r:embed="rId4"/>
          <a:stretch>
            <a:fillRect/>
          </a:stretch>
        </p:blipFill>
        <p:spPr>
          <a:xfrm>
            <a:off x="4572000" y="5486400"/>
            <a:ext cx="310896" cy="310896"/>
          </a:xfrm>
          <a:prstGeom prst="rect">
            <a:avLst/>
          </a:prstGeom>
        </p:spPr>
      </p:pic>
      <p:sp>
        <p:nvSpPr>
          <p:cNvPr id="11" name="Text 5"/>
          <p:cNvSpPr/>
          <p:nvPr/>
        </p:nvSpPr>
        <p:spPr>
          <a:xfrm>
            <a:off x="5029200" y="5458968"/>
            <a:ext cx="3200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github.com/CeloHT</a:t>
            </a:r>
            <a:endParaRPr lang="en-US" sz="1400" dirty="0"/>
          </a:p>
        </p:txBody>
      </p:sp>
      <p:sp>
        <p:nvSpPr>
          <p:cNvPr id="12" name="Text 6"/>
          <p:cNvSpPr/>
          <p:nvPr/>
        </p:nvSpPr>
        <p:spPr>
          <a:xfrm>
            <a:off x="914400" y="6263640"/>
            <a:ext cx="10332720" cy="320040"/>
          </a:xfrm>
          <a:prstGeom prst="rect">
            <a:avLst/>
          </a:prstGeom>
          <a:noFill/>
          <a:ln/>
        </p:spPr>
        <p:txBody>
          <a:bodyPr wrap="square" lIns="0" tIns="0" rIns="0" bIns="0" rtlCol="0" anchor="ctr"/>
          <a:lstStyle/>
          <a:p>
            <a:pPr algn="ctr" indent="0" marL="0">
              <a:buNone/>
            </a:pPr>
            <a:r>
              <a:rPr lang="en-US" sz="1100" dirty="0">
                <a:solidFill>
                  <a:srgbClr val="D4D4D4"/>
                </a:solidFill>
                <a:latin typeface="Calibri" pitchFamily="34" charset="0"/>
                <a:ea typeface="Calibri" pitchFamily="34" charset="-122"/>
                <a:cs typeface="Calibri" pitchFamily="34" charset="-120"/>
              </a:rPr>
              <a:t>Founded by Johnny Dubic · Léogâne, Haiti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2026-08-03T23:35:29Z</dcterms:created>
  <dcterms:modified xsi:type="dcterms:W3CDTF">2026-08-03T23:35:29Z</dcterms:modified>
</cp:coreProperties>
</file>